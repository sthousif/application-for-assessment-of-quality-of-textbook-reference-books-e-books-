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3" r:id="rId6"/>
    <p:sldId id="268" r:id="rId7"/>
    <p:sldId id="272" r:id="rId8"/>
    <p:sldId id="271" r:id="rId9"/>
    <p:sldId id="275"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journaleims.com/application-for-assessment-of-quality-of-textbook-reference-book-e-books/?utm_source=chatgpt.co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t>PSCS_46_Application for Assessment of Quality of Textbook/ Reference Books/E-Books </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 CSE_23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7507223" y="2235290"/>
            <a:ext cx="4487271" cy="2757334"/>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 </a:t>
            </a:r>
            <a:r>
              <a:rPr lang="en-IN" sz="1700" dirty="0" err="1"/>
              <a:t>Ms.Kummara</a:t>
            </a:r>
            <a:r>
              <a:rPr lang="en-IN" sz="1700" dirty="0"/>
              <a:t> Sruthi &amp;</a:t>
            </a:r>
          </a:p>
          <a:p>
            <a:pPr lvl="0">
              <a:spcBef>
                <a:spcPts val="340"/>
              </a:spcBef>
              <a:buClr>
                <a:srgbClr val="17365D"/>
              </a:buClr>
              <a:buSzPts val="1700"/>
            </a:pPr>
            <a:r>
              <a:rPr lang="en-IN" sz="1700" dirty="0" err="1"/>
              <a:t>Ms.Shweta</a:t>
            </a:r>
            <a:r>
              <a:rPr lang="en-IN" sz="1700" dirty="0"/>
              <a:t> Singh</a:t>
            </a:r>
            <a:endParaRPr sz="17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981414951"/>
              </p:ext>
            </p:extLst>
          </p:nvPr>
        </p:nvGraphicFramePr>
        <p:xfrm>
          <a:off x="553394" y="2423592"/>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131576">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31576">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31576">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 </a:t>
            </a:r>
            <a:r>
              <a:rPr lang="en-US" sz="1800" dirty="0">
                <a:solidFill>
                  <a:schemeClr val="tx1"/>
                </a:solidFill>
                <a:latin typeface="+mj-lt"/>
                <a:ea typeface="Cambria" panose="02040503050406030204" pitchFamily="18" charset="0"/>
                <a:cs typeface="Verdana"/>
                <a:sym typeface="Verdana"/>
              </a:rPr>
              <a:t>School of Computer Science &amp; Engineering</a:t>
            </a:r>
            <a:endParaRPr lang="en-US" sz="1800" i="0" u="none" strike="noStrike" cap="none" dirty="0">
              <a:solidFill>
                <a:schemeClr val="tx1"/>
              </a:solidFill>
              <a:latin typeface="+mj-lt"/>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 </a:t>
            </a:r>
            <a:r>
              <a:rPr lang="en-IN" sz="1800" dirty="0"/>
              <a:t>Dr. Asif Mohammed </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 </a:t>
            </a:r>
            <a:r>
              <a:rPr lang="en-IN" sz="1800" dirty="0" err="1"/>
              <a:t>Dr.Jayavadivel</a:t>
            </a:r>
            <a:r>
              <a:rPr lang="en-IN" sz="1800" dirty="0"/>
              <a:t> Ravi , Mr. </a:t>
            </a:r>
            <a:r>
              <a:rPr lang="en-IN" sz="1800" dirty="0" err="1"/>
              <a:t>Muthuraju</a:t>
            </a:r>
            <a:r>
              <a:rPr lang="en-IN" sz="1800" dirty="0"/>
              <a:t> V </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 </a:t>
            </a:r>
            <a:r>
              <a:rPr lang="en-US" sz="1800" i="0" u="none" strike="noStrike" cap="none" dirty="0" err="1">
                <a:solidFill>
                  <a:schemeClr val="tx1"/>
                </a:solidFill>
                <a:latin typeface="+mj-lt"/>
                <a:ea typeface="Cambria" panose="02040503050406030204" pitchFamily="18" charset="0"/>
                <a:cs typeface="Verdana"/>
                <a:sym typeface="Verdana"/>
              </a:rPr>
              <a:t>Dr.Sampath</a:t>
            </a:r>
            <a:r>
              <a:rPr lang="en-US" sz="1800" i="0" u="none" strike="noStrike" cap="none" dirty="0">
                <a:solidFill>
                  <a:schemeClr val="tx1"/>
                </a:solidFill>
                <a:latin typeface="+mj-lt"/>
                <a:ea typeface="Cambria" panose="02040503050406030204" pitchFamily="18" charset="0"/>
                <a:cs typeface="Verdana"/>
                <a:sym typeface="Verdana"/>
              </a:rPr>
              <a:t> A K , Dr. Geetha A </a:t>
            </a:r>
            <a:endParaRPr sz="1800" i="0" u="none" strike="noStrike" cap="none" dirty="0">
              <a:solidFill>
                <a:schemeClr val="tx1"/>
              </a:solidFill>
              <a:latin typeface="+mj-lt"/>
              <a:ea typeface="Cambria" panose="02040503050406030204" pitchFamily="18" charset="0"/>
              <a:cs typeface="Verdana"/>
              <a:sym typeface="Verdana"/>
            </a:endParaRPr>
          </a:p>
        </p:txBody>
      </p:sp>
      <p:graphicFrame>
        <p:nvGraphicFramePr>
          <p:cNvPr id="5" name="Table 4">
            <a:extLst>
              <a:ext uri="{FF2B5EF4-FFF2-40B4-BE49-F238E27FC236}">
                <a16:creationId xmlns:a16="http://schemas.microsoft.com/office/drawing/2014/main" id="{AF0D9EFE-1851-B473-BF97-2EF872E56FD8}"/>
              </a:ext>
            </a:extLst>
          </p:cNvPr>
          <p:cNvGraphicFramePr>
            <a:graphicFrameLocks noGrp="1"/>
          </p:cNvGraphicFramePr>
          <p:nvPr>
            <p:extLst>
              <p:ext uri="{D42A27DB-BD31-4B8C-83A1-F6EECF244321}">
                <p14:modId xmlns:p14="http://schemas.microsoft.com/office/powerpoint/2010/main" val="1606949484"/>
              </p:ext>
            </p:extLst>
          </p:nvPr>
        </p:nvGraphicFramePr>
        <p:xfrm>
          <a:off x="197506" y="2423592"/>
          <a:ext cx="5418674" cy="1483360"/>
        </p:xfrm>
        <a:graphic>
          <a:graphicData uri="http://schemas.openxmlformats.org/drawingml/2006/table">
            <a:tbl>
              <a:tblPr firstRow="1" bandRow="1"/>
              <a:tblGrid>
                <a:gridCol w="2709337">
                  <a:extLst>
                    <a:ext uri="{9D8B030D-6E8A-4147-A177-3AD203B41FA5}">
                      <a16:colId xmlns:a16="http://schemas.microsoft.com/office/drawing/2014/main" val="1175655910"/>
                    </a:ext>
                  </a:extLst>
                </a:gridCol>
                <a:gridCol w="2709337">
                  <a:extLst>
                    <a:ext uri="{9D8B030D-6E8A-4147-A177-3AD203B41FA5}">
                      <a16:colId xmlns:a16="http://schemas.microsoft.com/office/drawing/2014/main" val="281558044"/>
                    </a:ext>
                  </a:extLst>
                </a:gridCol>
              </a:tblGrid>
              <a:tr h="370840">
                <a:tc>
                  <a:txBody>
                    <a:bodyPr/>
                    <a:lstStyle/>
                    <a:p>
                      <a:endParaRPr lang="en-IN"/>
                    </a:p>
                  </a:txBody>
                  <a:tcPr/>
                </a:tc>
                <a:tc>
                  <a:txBody>
                    <a:bodyPr/>
                    <a:lstStyle/>
                    <a:p>
                      <a:r>
                        <a:rPr lang="en-IN" dirty="0"/>
                        <a:t>          </a:t>
                      </a:r>
                    </a:p>
                  </a:txBody>
                  <a:tcPr/>
                </a:tc>
                <a:extLst>
                  <a:ext uri="{0D108BD9-81ED-4DB2-BD59-A6C34878D82A}">
                    <a16:rowId xmlns:a16="http://schemas.microsoft.com/office/drawing/2014/main" val="585445812"/>
                  </a:ext>
                </a:extLst>
              </a:tr>
              <a:tr h="370840">
                <a:tc>
                  <a:txBody>
                    <a:bodyPr/>
                    <a:lstStyle/>
                    <a:p>
                      <a:pPr algn="ctr"/>
                      <a:r>
                        <a:rPr lang="en-IN" dirty="0"/>
                        <a:t>20221CSE0234</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t>Syed Thousif</a:t>
                      </a:r>
                    </a:p>
                  </a:txBody>
                  <a:tcPr/>
                </a:tc>
                <a:extLst>
                  <a:ext uri="{0D108BD9-81ED-4DB2-BD59-A6C34878D82A}">
                    <a16:rowId xmlns:a16="http://schemas.microsoft.com/office/drawing/2014/main" val="2093631946"/>
                  </a:ext>
                </a:extLst>
              </a:tr>
              <a:tr h="370840">
                <a:tc>
                  <a:txBody>
                    <a:bodyPr/>
                    <a:lstStyle/>
                    <a:p>
                      <a:pPr algn="ctr"/>
                      <a:r>
                        <a:rPr lang="en-IN" dirty="0"/>
                        <a:t>20221CSE0213</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a:t>Patil Jashwanth Reddy</a:t>
                      </a:r>
                    </a:p>
                  </a:txBody>
                  <a:tcPr/>
                </a:tc>
                <a:extLst>
                  <a:ext uri="{0D108BD9-81ED-4DB2-BD59-A6C34878D82A}">
                    <a16:rowId xmlns:a16="http://schemas.microsoft.com/office/drawing/2014/main" val="988153474"/>
                  </a:ext>
                </a:extLst>
              </a:tr>
              <a:tr h="370840">
                <a:tc>
                  <a:txBody>
                    <a:bodyPr/>
                    <a:lstStyle/>
                    <a:p>
                      <a:pPr algn="ctr"/>
                      <a:r>
                        <a:rPr lang="en-IN" dirty="0"/>
                        <a:t>20221CSE0211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dirty="0" err="1"/>
                        <a:t>Kambam</a:t>
                      </a:r>
                      <a:r>
                        <a:rPr lang="en-IN" dirty="0"/>
                        <a:t> Nithin Kumar Reddy</a:t>
                      </a:r>
                    </a:p>
                  </a:txBody>
                  <a:tcPr/>
                </a:tc>
                <a:extLst>
                  <a:ext uri="{0D108BD9-81ED-4DB2-BD59-A6C34878D82A}">
                    <a16:rowId xmlns:a16="http://schemas.microsoft.com/office/drawing/2014/main" val="1530307058"/>
                  </a:ext>
                </a:extLst>
              </a:tr>
            </a:tbl>
          </a:graphicData>
        </a:graphic>
      </p:graphicFrame>
      <p:sp>
        <p:nvSpPr>
          <p:cNvPr id="2" name="Rectangle 1">
            <a:extLst>
              <a:ext uri="{FF2B5EF4-FFF2-40B4-BE49-F238E27FC236}">
                <a16:creationId xmlns:a16="http://schemas.microsoft.com/office/drawing/2014/main" id="{6D9EB74C-1FA1-AAFD-9D49-71B0643C2690}"/>
              </a:ext>
            </a:extLst>
          </p:cNvPr>
          <p:cNvSpPr/>
          <p:nvPr/>
        </p:nvSpPr>
        <p:spPr>
          <a:xfrm>
            <a:off x="7507223" y="2235290"/>
            <a:ext cx="4391131" cy="23829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 PSCS_46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0000" lnSpcReduction="20000"/>
          </a:bodyPr>
          <a:lstStyle/>
          <a:p>
            <a:pPr marL="342900" lvl="0" indent="-190500" algn="just">
              <a:spcBef>
                <a:spcPts val="0"/>
              </a:spcBef>
              <a:buNone/>
            </a:pPr>
            <a:r>
              <a:rPr lang="en-US" sz="4000" dirty="0">
                <a:latin typeface="Cambria" panose="02040503050406030204" pitchFamily="18" charset="0"/>
                <a:ea typeface="Cambria" panose="02040503050406030204" pitchFamily="18" charset="0"/>
              </a:rPr>
              <a:t>Organization: Ministry Of AYUSH</a:t>
            </a:r>
          </a:p>
          <a:p>
            <a:pPr marL="342900" lvl="0" indent="-190500" algn="just">
              <a:lnSpc>
                <a:spcPct val="200000"/>
              </a:lnSpc>
              <a:spcBef>
                <a:spcPts val="0"/>
              </a:spcBef>
              <a:buNone/>
            </a:pPr>
            <a:r>
              <a:rPr lang="en-US" sz="4000"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sz="4000" dirty="0">
                <a:latin typeface="Cambria" panose="02040503050406030204" pitchFamily="18" charset="0"/>
                <a:ea typeface="Cambria" panose="02040503050406030204" pitchFamily="18" charset="0"/>
              </a:rPr>
              <a:t>Problem Description : </a:t>
            </a:r>
            <a:r>
              <a:rPr lang="en-US" sz="4500" dirty="0">
                <a:latin typeface="Bernard MT Condensed" panose="02050806060905020404" pitchFamily="18" charset="0"/>
                <a:ea typeface="Cambria" panose="02040503050406030204" pitchFamily="18" charset="0"/>
              </a:rPr>
              <a:t>T</a:t>
            </a:r>
            <a:r>
              <a:rPr lang="en-US" sz="2900" dirty="0"/>
              <a:t>he medical students aiming to be good physicians, need to select a standard medical textbook. It is evident that there are several books made available in ASU (Ayurveda, Unani, Siddha) medical systems and every book claims that the book has been written as per CCIM or NCISM syllabus. Amongst some are good and some are of poor quality and were written with vested interest. Due to this, students are trapped by substandard books that leads to poor quality standard among students. Identifying this issue and its impact on medical on the medical system, NCISM constituted an expert committee for the development of an assessment scale for textbooks/ reference books. The expert committee after thorough deliberations developed the assessment scale for the quality assessment of textbooks/ reference books. This assessment scale serves the purpose of:- Selection of quality textbooks by teachers for their students. Serving as a reference for textbook writers. Providing criteria to recommend for inclusion in the list of recommended apex/ regulatory bodies. The assessment process requires a review of the books by reviewers (subject-wise reviewers located across the country, 3 reviewers per book) and summarizing the reviewer's remarks and decision by the committee. The development of an application on this will help to get reviews from people around the world online and also will help to summarize all the reviewed data in a faster mode.</a:t>
            </a:r>
            <a:r>
              <a:rPr lang="en-US" sz="2900" dirty="0">
                <a:latin typeface="Cambria" panose="02040503050406030204" pitchFamily="18" charset="0"/>
                <a:ea typeface="Cambria" panose="02040503050406030204" pitchFamily="18" charset="0"/>
              </a:rPr>
              <a:t>:</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Wingdings" panose="05000000000000000000" pitchFamily="2" charset="2"/>
              <a:buChar char="q"/>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Wingdings" panose="05000000000000000000" pitchFamily="2" charset="2"/>
              <a:buChar char="q"/>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q"/>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q"/>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 How it Works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51560"/>
            <a:ext cx="10668000" cy="4892039"/>
          </a:xfrm>
          <a:prstGeom prst="rect">
            <a:avLst/>
          </a:prstGeom>
          <a:noFill/>
          <a:ln>
            <a:noFill/>
          </a:ln>
        </p:spPr>
        <p:txBody>
          <a:bodyPr spcFirstLastPara="1" wrap="square" lIns="91425" tIns="45700" rIns="91425" bIns="45700" anchor="t" anchorCtr="0">
            <a:normAutofit/>
          </a:bodyPr>
          <a:lstStyle/>
          <a:p>
            <a:pPr marL="76200" indent="0">
              <a:buNone/>
            </a:pPr>
            <a:r>
              <a:rPr lang="en-US" sz="2200" b="1" dirty="0"/>
              <a:t>Process for Assessment of Quality of Textbook / Reference Books / E-Book</a:t>
            </a:r>
            <a:endParaRPr lang="en-US" sz="2200" dirty="0"/>
          </a:p>
          <a:p>
            <a:pPr>
              <a:buFont typeface="Wingdings" panose="05000000000000000000" pitchFamily="2" charset="2"/>
              <a:buChar char="ü"/>
            </a:pPr>
            <a:r>
              <a:rPr lang="en-US" sz="2200" b="1" dirty="0"/>
              <a:t>Application Submission</a:t>
            </a:r>
            <a:r>
              <a:rPr lang="en-US" sz="2200" dirty="0"/>
              <a:t> – Author or publisher submits details of the book.</a:t>
            </a:r>
          </a:p>
          <a:p>
            <a:pPr>
              <a:buFont typeface="Wingdings" panose="05000000000000000000" pitchFamily="2" charset="2"/>
              <a:buChar char="ü"/>
            </a:pPr>
            <a:r>
              <a:rPr lang="en-US" sz="2200" b="1" dirty="0"/>
              <a:t>Sample &amp; Documents</a:t>
            </a:r>
            <a:r>
              <a:rPr lang="en-US" sz="2200" dirty="0"/>
              <a:t> – Provide copy/link, author details, and syllabus relevance.</a:t>
            </a:r>
          </a:p>
          <a:p>
            <a:pPr>
              <a:buFont typeface="Wingdings" panose="05000000000000000000" pitchFamily="2" charset="2"/>
              <a:buChar char="ü"/>
            </a:pPr>
            <a:r>
              <a:rPr lang="en-US" sz="2200" b="1" dirty="0"/>
              <a:t>Expert Review</a:t>
            </a:r>
            <a:r>
              <a:rPr lang="en-US" sz="2200" dirty="0"/>
              <a:t> – Panel evaluates content accuracy, relevance, and clarity.</a:t>
            </a:r>
          </a:p>
          <a:p>
            <a:pPr>
              <a:buFont typeface="Wingdings" panose="05000000000000000000" pitchFamily="2" charset="2"/>
              <a:buChar char="ü"/>
            </a:pPr>
            <a:r>
              <a:rPr lang="en-US" sz="2200" b="1" dirty="0"/>
              <a:t>Feedback</a:t>
            </a:r>
            <a:r>
              <a:rPr lang="en-US" sz="2200" dirty="0"/>
              <a:t> – Suggestions or corrections if needed.</a:t>
            </a:r>
          </a:p>
          <a:p>
            <a:pPr>
              <a:buFont typeface="Wingdings" panose="05000000000000000000" pitchFamily="2" charset="2"/>
              <a:buChar char="ü"/>
            </a:pPr>
            <a:r>
              <a:rPr lang="en-US" sz="2200" b="1" dirty="0"/>
              <a:t>Approval</a:t>
            </a:r>
            <a:r>
              <a:rPr lang="en-US" sz="2200" dirty="0"/>
              <a:t> – Certified and added to recommended reading list.</a:t>
            </a:r>
          </a:p>
          <a:p>
            <a:pPr marL="152400" indent="0" algn="just">
              <a:lnSpc>
                <a:spcPct val="200000"/>
              </a:lnSpc>
              <a:spcBef>
                <a:spcPts val="0"/>
              </a:spcBef>
              <a:buNone/>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Steps Requirement</a:t>
            </a:r>
          </a:p>
        </p:txBody>
      </p:sp>
      <p:sp>
        <p:nvSpPr>
          <p:cNvPr id="115" name="Google Shape;115;p17"/>
          <p:cNvSpPr txBox="1">
            <a:spLocks noGrp="1"/>
          </p:cNvSpPr>
          <p:nvPr>
            <p:ph type="body" idx="1"/>
          </p:nvPr>
        </p:nvSpPr>
        <p:spPr>
          <a:xfrm>
            <a:off x="812800" y="978408"/>
            <a:ext cx="10668000" cy="5117592"/>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r>
              <a:rPr lang="en-US" dirty="0">
                <a:latin typeface="Cambria" panose="02040503050406030204" pitchFamily="18" charset="0"/>
                <a:ea typeface="Cambria" panose="02040503050406030204" pitchFamily="18" charset="0"/>
              </a:rPr>
              <a:t>Technology Stack Components:</a:t>
            </a:r>
          </a:p>
          <a:p>
            <a:pPr marL="76200" indent="0">
              <a:buNone/>
            </a:pPr>
            <a:r>
              <a:rPr lang="en-IN" sz="1600" b="1" dirty="0"/>
              <a:t>1. Frontend (User Interface)</a:t>
            </a:r>
            <a:endParaRPr lang="en-IN" sz="1600" dirty="0"/>
          </a:p>
          <a:p>
            <a:pPr marL="76200" indent="0">
              <a:buNone/>
            </a:pPr>
            <a:r>
              <a:rPr lang="en-IN" sz="1600" b="1" dirty="0"/>
              <a:t>Framework:</a:t>
            </a:r>
            <a:r>
              <a:rPr lang="en-IN" sz="1600" dirty="0"/>
              <a:t> React.js or Angular , </a:t>
            </a:r>
            <a:r>
              <a:rPr lang="en-IN" sz="1600" b="1" dirty="0"/>
              <a:t>Styling:</a:t>
            </a:r>
            <a:r>
              <a:rPr lang="en-IN" sz="1600" dirty="0"/>
              <a:t> Bootstrap </a:t>
            </a:r>
          </a:p>
          <a:p>
            <a:pPr marL="76200" indent="0">
              <a:buNone/>
            </a:pPr>
            <a:r>
              <a:rPr lang="en-US" sz="1600" b="1" dirty="0"/>
              <a:t>2. Backend (Application Logic)</a:t>
            </a:r>
            <a:endParaRPr lang="en-US" sz="1600" dirty="0"/>
          </a:p>
          <a:p>
            <a:pPr marL="76200" indent="0">
              <a:buNone/>
            </a:pPr>
            <a:r>
              <a:rPr lang="en-US" sz="1600" b="1" dirty="0"/>
              <a:t>Language &amp; Framework:</a:t>
            </a:r>
            <a:r>
              <a:rPr lang="en-US" sz="1600" dirty="0"/>
              <a:t> Node.js</a:t>
            </a:r>
          </a:p>
          <a:p>
            <a:pPr marL="76200" indent="0">
              <a:buNone/>
            </a:pPr>
            <a:r>
              <a:rPr lang="en-IN" sz="1600" b="1" dirty="0"/>
              <a:t>3. Database (Data Storage)</a:t>
            </a:r>
            <a:endParaRPr lang="en-IN" sz="1600" dirty="0"/>
          </a:p>
          <a:p>
            <a:pPr marL="76200" indent="0">
              <a:buNone/>
            </a:pPr>
            <a:r>
              <a:rPr lang="en-IN" sz="1600" b="1" dirty="0"/>
              <a:t>NoSQL :</a:t>
            </a:r>
            <a:r>
              <a:rPr lang="en-IN" sz="1600" dirty="0"/>
              <a:t> MongoDB</a:t>
            </a:r>
          </a:p>
          <a:p>
            <a:pPr marL="76200" indent="0">
              <a:buNone/>
            </a:pPr>
            <a:r>
              <a:rPr lang="en-US" sz="1600" b="1" dirty="0"/>
              <a:t>4. Deployment &amp; Hosting</a:t>
            </a:r>
            <a:endParaRPr lang="en-US" sz="1600" dirty="0"/>
          </a:p>
          <a:p>
            <a:pPr marL="76200" indent="0">
              <a:buNone/>
            </a:pPr>
            <a:r>
              <a:rPr lang="en-US" sz="1600" b="1" dirty="0"/>
              <a:t>Cloud: </a:t>
            </a:r>
            <a:r>
              <a:rPr lang="en-US" sz="1600" dirty="0"/>
              <a:t>AWS / Azure / Google Cloud</a:t>
            </a:r>
          </a:p>
          <a:p>
            <a:pPr marL="76200" indent="0">
              <a:buNone/>
            </a:pPr>
            <a:r>
              <a:rPr lang="en-IN" sz="1600" b="1" dirty="0"/>
              <a:t>CI/CD: </a:t>
            </a:r>
            <a:r>
              <a:rPr lang="en-IN" sz="1600" dirty="0"/>
              <a:t>GitHub Actions</a:t>
            </a:r>
          </a:p>
          <a:p>
            <a:pPr marL="76200" indent="0">
              <a:buNone/>
            </a:pPr>
            <a:r>
              <a:rPr lang="en-US" sz="1600" b="1" dirty="0"/>
              <a:t>5. Additional Tools</a:t>
            </a:r>
            <a:endParaRPr lang="en-US" sz="1600" dirty="0"/>
          </a:p>
          <a:p>
            <a:pPr marL="76200" indent="0">
              <a:buNone/>
            </a:pPr>
            <a:r>
              <a:rPr lang="en-US" sz="1600" b="1" dirty="0"/>
              <a:t>Version Control:</a:t>
            </a:r>
            <a:r>
              <a:rPr lang="en-US" sz="1600" dirty="0"/>
              <a:t> Git &amp; GitHub</a:t>
            </a:r>
          </a:p>
          <a:p>
            <a:pPr marL="76200" indent="0">
              <a:buNone/>
            </a:pPr>
            <a:r>
              <a:rPr lang="en-US" sz="1600" b="1" dirty="0"/>
              <a:t>Testing: </a:t>
            </a:r>
            <a:r>
              <a:rPr lang="en-US" sz="1600" dirty="0"/>
              <a:t>Jest / Mocha / Selenium</a:t>
            </a:r>
          </a:p>
          <a:p>
            <a:pPr marL="76200" indent="0">
              <a:buNone/>
            </a:pPr>
            <a:endParaRPr lang="en-IN" sz="1600" dirty="0"/>
          </a:p>
          <a:p>
            <a:pPr marL="76200" indent="0">
              <a:buNone/>
            </a:pPr>
            <a:endParaRPr lang="en-US" sz="1600" dirty="0"/>
          </a:p>
          <a:p>
            <a:pPr marL="76200" indent="0">
              <a:buNone/>
            </a:pPr>
            <a:endParaRPr lang="en-US" sz="1200" dirty="0"/>
          </a:p>
          <a:p>
            <a:pPr marL="76200" indent="0">
              <a:buNone/>
            </a:pPr>
            <a:endParaRPr lang="en-US" sz="1200" dirty="0"/>
          </a:p>
          <a:p>
            <a:pPr marL="76200" indent="0">
              <a:buNone/>
            </a:pPr>
            <a:endParaRPr lang="en-IN" sz="1200" dirty="0"/>
          </a:p>
          <a:p>
            <a:pPr marL="342900" lvl="0" indent="-190500" algn="just">
              <a:spcBef>
                <a:spcPts val="0"/>
              </a:spcBef>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09956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u="sng" dirty="0">
                <a:solidFill>
                  <a:schemeClr val="bg2"/>
                </a:solidFill>
                <a:latin typeface="Cambria" panose="02040503050406030204" pitchFamily="18" charset="0"/>
                <a:ea typeface="Cambria" panose="02040503050406030204" pitchFamily="18" charset="0"/>
              </a:rPr>
              <a:t>https://github.com/SThousif/Application-for-Assessment-of-Quality-of-Textbook-Reference-Books-E-Books-</a:t>
            </a: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Software and Hardware Requirements: </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graphicFrame>
        <p:nvGraphicFramePr>
          <p:cNvPr id="2" name="Table 1">
            <a:extLst>
              <a:ext uri="{FF2B5EF4-FFF2-40B4-BE49-F238E27FC236}">
                <a16:creationId xmlns:a16="http://schemas.microsoft.com/office/drawing/2014/main" id="{EADB1D98-4727-F9DC-65F9-C055B02A5F55}"/>
              </a:ext>
            </a:extLst>
          </p:cNvPr>
          <p:cNvGraphicFramePr>
            <a:graphicFrameLocks noGrp="1"/>
          </p:cNvGraphicFramePr>
          <p:nvPr>
            <p:extLst>
              <p:ext uri="{D42A27DB-BD31-4B8C-83A1-F6EECF244321}">
                <p14:modId xmlns:p14="http://schemas.microsoft.com/office/powerpoint/2010/main" val="851062318"/>
              </p:ext>
            </p:extLst>
          </p:nvPr>
        </p:nvGraphicFramePr>
        <p:xfrm>
          <a:off x="812800" y="1920240"/>
          <a:ext cx="10668000" cy="3584448"/>
        </p:xfrm>
        <a:graphic>
          <a:graphicData uri="http://schemas.openxmlformats.org/drawingml/2006/table">
            <a:tbl>
              <a:tblPr/>
              <a:tblGrid>
                <a:gridCol w="5334000">
                  <a:extLst>
                    <a:ext uri="{9D8B030D-6E8A-4147-A177-3AD203B41FA5}">
                      <a16:colId xmlns:a16="http://schemas.microsoft.com/office/drawing/2014/main" val="1707389604"/>
                    </a:ext>
                  </a:extLst>
                </a:gridCol>
                <a:gridCol w="5334000">
                  <a:extLst>
                    <a:ext uri="{9D8B030D-6E8A-4147-A177-3AD203B41FA5}">
                      <a16:colId xmlns:a16="http://schemas.microsoft.com/office/drawing/2014/main" val="2833022039"/>
                    </a:ext>
                  </a:extLst>
                </a:gridCol>
              </a:tblGrid>
              <a:tr h="597408">
                <a:tc>
                  <a:txBody>
                    <a:bodyPr/>
                    <a:lstStyle/>
                    <a:p>
                      <a:pPr>
                        <a:buNone/>
                      </a:pPr>
                      <a:r>
                        <a:rPr lang="en-IN" sz="1700" b="1" dirty="0"/>
                        <a:t>Software Requirements</a:t>
                      </a:r>
                      <a:endParaRPr lang="en-IN" sz="1700" dirty="0"/>
                    </a:p>
                  </a:txBody>
                  <a:tcPr anchor="ctr">
                    <a:lnL>
                      <a:noFill/>
                    </a:lnL>
                    <a:lnR>
                      <a:noFill/>
                    </a:lnR>
                    <a:lnT>
                      <a:noFill/>
                    </a:lnT>
                    <a:lnB>
                      <a:noFill/>
                    </a:lnB>
                    <a:noFill/>
                  </a:tcPr>
                </a:tc>
                <a:tc>
                  <a:txBody>
                    <a:bodyPr/>
                    <a:lstStyle/>
                    <a:p>
                      <a:pPr>
                        <a:buNone/>
                      </a:pPr>
                      <a:r>
                        <a:rPr lang="en-IN" sz="1700" b="1" dirty="0"/>
                        <a:t>Hardware Requirements</a:t>
                      </a:r>
                      <a:endParaRPr lang="en-IN" sz="1700" dirty="0"/>
                    </a:p>
                  </a:txBody>
                  <a:tcPr anchor="ctr">
                    <a:lnL>
                      <a:noFill/>
                    </a:lnL>
                    <a:lnR>
                      <a:noFill/>
                    </a:lnR>
                    <a:lnT>
                      <a:noFill/>
                    </a:lnT>
                    <a:lnB>
                      <a:noFill/>
                    </a:lnB>
                    <a:noFill/>
                  </a:tcPr>
                </a:tc>
                <a:extLst>
                  <a:ext uri="{0D108BD9-81ED-4DB2-BD59-A6C34878D82A}">
                    <a16:rowId xmlns:a16="http://schemas.microsoft.com/office/drawing/2014/main" val="1263361967"/>
                  </a:ext>
                </a:extLst>
              </a:tr>
              <a:tr h="597408">
                <a:tc>
                  <a:txBody>
                    <a:bodyPr/>
                    <a:lstStyle/>
                    <a:p>
                      <a:pPr>
                        <a:buNone/>
                      </a:pPr>
                      <a:r>
                        <a:rPr lang="en-US"/>
                        <a:t>Windows 10/11, macOS, or Linux</a:t>
                      </a:r>
                    </a:p>
                  </a:txBody>
                  <a:tcPr anchor="ctr">
                    <a:lnL>
                      <a:noFill/>
                    </a:lnL>
                    <a:lnR>
                      <a:noFill/>
                    </a:lnR>
                    <a:lnT>
                      <a:noFill/>
                    </a:lnT>
                    <a:lnB>
                      <a:noFill/>
                    </a:lnB>
                    <a:noFill/>
                  </a:tcPr>
                </a:tc>
                <a:tc>
                  <a:txBody>
                    <a:bodyPr/>
                    <a:lstStyle/>
                    <a:p>
                      <a:pPr>
                        <a:buNone/>
                      </a:pPr>
                      <a:r>
                        <a:rPr lang="en-US"/>
                        <a:t>Processor: Intel i5 / AMD Ryzen 5 or higher</a:t>
                      </a:r>
                    </a:p>
                  </a:txBody>
                  <a:tcPr anchor="ctr">
                    <a:lnL>
                      <a:noFill/>
                    </a:lnL>
                    <a:lnR>
                      <a:noFill/>
                    </a:lnR>
                    <a:lnT>
                      <a:noFill/>
                    </a:lnT>
                    <a:lnB>
                      <a:noFill/>
                    </a:lnB>
                    <a:noFill/>
                  </a:tcPr>
                </a:tc>
                <a:extLst>
                  <a:ext uri="{0D108BD9-81ED-4DB2-BD59-A6C34878D82A}">
                    <a16:rowId xmlns:a16="http://schemas.microsoft.com/office/drawing/2014/main" val="3898586249"/>
                  </a:ext>
                </a:extLst>
              </a:tr>
              <a:tr h="597408">
                <a:tc>
                  <a:txBody>
                    <a:bodyPr/>
                    <a:lstStyle/>
                    <a:p>
                      <a:pPr>
                        <a:buNone/>
                      </a:pPr>
                      <a:r>
                        <a:rPr lang="en-IN"/>
                        <a:t>React.js / Angular, HTML5, CSS3, JavaScript</a:t>
                      </a:r>
                    </a:p>
                  </a:txBody>
                  <a:tcPr anchor="ctr">
                    <a:lnL>
                      <a:noFill/>
                    </a:lnL>
                    <a:lnR>
                      <a:noFill/>
                    </a:lnR>
                    <a:lnT>
                      <a:noFill/>
                    </a:lnT>
                    <a:lnB>
                      <a:noFill/>
                    </a:lnB>
                    <a:noFill/>
                  </a:tcPr>
                </a:tc>
                <a:tc>
                  <a:txBody>
                    <a:bodyPr/>
                    <a:lstStyle/>
                    <a:p>
                      <a:pPr>
                        <a:buNone/>
                      </a:pPr>
                      <a:r>
                        <a:rPr lang="en-US"/>
                        <a:t>RAM: 8 GB (16 GB recommended)</a:t>
                      </a:r>
                    </a:p>
                  </a:txBody>
                  <a:tcPr anchor="ctr">
                    <a:lnL>
                      <a:noFill/>
                    </a:lnL>
                    <a:lnR>
                      <a:noFill/>
                    </a:lnR>
                    <a:lnT>
                      <a:noFill/>
                    </a:lnT>
                    <a:lnB>
                      <a:noFill/>
                    </a:lnB>
                    <a:noFill/>
                  </a:tcPr>
                </a:tc>
                <a:extLst>
                  <a:ext uri="{0D108BD9-81ED-4DB2-BD59-A6C34878D82A}">
                    <a16:rowId xmlns:a16="http://schemas.microsoft.com/office/drawing/2014/main" val="4186618378"/>
                  </a:ext>
                </a:extLst>
              </a:tr>
              <a:tr h="597408">
                <a:tc>
                  <a:txBody>
                    <a:bodyPr/>
                    <a:lstStyle/>
                    <a:p>
                      <a:pPr>
                        <a:buNone/>
                      </a:pPr>
                      <a:r>
                        <a:rPr lang="en-US"/>
                        <a:t>Node.js with Express.js or Python Django/Flask</a:t>
                      </a:r>
                    </a:p>
                  </a:txBody>
                  <a:tcPr anchor="ctr">
                    <a:lnL>
                      <a:noFill/>
                    </a:lnL>
                    <a:lnR>
                      <a:noFill/>
                    </a:lnR>
                    <a:lnT>
                      <a:noFill/>
                    </a:lnT>
                    <a:lnB>
                      <a:noFill/>
                    </a:lnB>
                    <a:noFill/>
                  </a:tcPr>
                </a:tc>
                <a:tc>
                  <a:txBody>
                    <a:bodyPr/>
                    <a:lstStyle/>
                    <a:p>
                      <a:pPr>
                        <a:buNone/>
                      </a:pPr>
                      <a:r>
                        <a:rPr lang="en-US"/>
                        <a:t>Storage: 256 GB SSD (512 GB recommended)</a:t>
                      </a:r>
                    </a:p>
                  </a:txBody>
                  <a:tcPr anchor="ctr">
                    <a:lnL>
                      <a:noFill/>
                    </a:lnL>
                    <a:lnR>
                      <a:noFill/>
                    </a:lnR>
                    <a:lnT>
                      <a:noFill/>
                    </a:lnT>
                    <a:lnB>
                      <a:noFill/>
                    </a:lnB>
                    <a:noFill/>
                  </a:tcPr>
                </a:tc>
                <a:extLst>
                  <a:ext uri="{0D108BD9-81ED-4DB2-BD59-A6C34878D82A}">
                    <a16:rowId xmlns:a16="http://schemas.microsoft.com/office/drawing/2014/main" val="4151496854"/>
                  </a:ext>
                </a:extLst>
              </a:tr>
              <a:tr h="597408">
                <a:tc>
                  <a:txBody>
                    <a:bodyPr/>
                    <a:lstStyle/>
                    <a:p>
                      <a:pPr>
                        <a:buNone/>
                      </a:pPr>
                      <a:r>
                        <a:rPr lang="en-IN" dirty="0"/>
                        <a:t>MySQL / PostgreSQL, MongoDB </a:t>
                      </a:r>
                    </a:p>
                  </a:txBody>
                  <a:tcPr anchor="ctr">
                    <a:lnL>
                      <a:noFill/>
                    </a:lnL>
                    <a:lnR>
                      <a:noFill/>
                    </a:lnR>
                    <a:lnT>
                      <a:noFill/>
                    </a:lnT>
                    <a:lnB>
                      <a:noFill/>
                    </a:lnB>
                    <a:noFill/>
                  </a:tcPr>
                </a:tc>
                <a:tc>
                  <a:txBody>
                    <a:bodyPr/>
                    <a:lstStyle/>
                    <a:p>
                      <a:pPr>
                        <a:buNone/>
                      </a:pPr>
                      <a:r>
                        <a:rPr lang="en-US" dirty="0"/>
                        <a:t>Graphics: Integrated or dedicated GPU</a:t>
                      </a:r>
                    </a:p>
                  </a:txBody>
                  <a:tcPr anchor="ctr">
                    <a:lnL>
                      <a:noFill/>
                    </a:lnL>
                    <a:lnR>
                      <a:noFill/>
                    </a:lnR>
                    <a:lnT>
                      <a:noFill/>
                    </a:lnT>
                    <a:lnB>
                      <a:noFill/>
                    </a:lnB>
                    <a:noFill/>
                  </a:tcPr>
                </a:tc>
                <a:extLst>
                  <a:ext uri="{0D108BD9-81ED-4DB2-BD59-A6C34878D82A}">
                    <a16:rowId xmlns:a16="http://schemas.microsoft.com/office/drawing/2014/main" val="2154635543"/>
                  </a:ext>
                </a:extLst>
              </a:tr>
              <a:tr h="597408">
                <a:tc>
                  <a:txBody>
                    <a:bodyPr/>
                    <a:lstStyle/>
                    <a:p>
                      <a:pPr>
                        <a:buNone/>
                      </a:pPr>
                      <a:r>
                        <a:rPr lang="en-US"/>
                        <a:t>AWS / Azure / Google Cloud hosting</a:t>
                      </a:r>
                    </a:p>
                  </a:txBody>
                  <a:tcPr anchor="ctr">
                    <a:lnL>
                      <a:noFill/>
                    </a:lnL>
                    <a:lnR>
                      <a:noFill/>
                    </a:lnR>
                    <a:lnT>
                      <a:noFill/>
                    </a:lnT>
                    <a:lnB>
                      <a:noFill/>
                    </a:lnB>
                    <a:noFill/>
                  </a:tcPr>
                </a:tc>
                <a:tc>
                  <a:txBody>
                    <a:bodyPr/>
                    <a:lstStyle/>
                    <a:p>
                      <a:pPr>
                        <a:buNone/>
                      </a:pPr>
                      <a:r>
                        <a:rPr lang="en-US" dirty="0"/>
                        <a:t>Internet: Broadband min 2MBPS</a:t>
                      </a:r>
                    </a:p>
                  </a:txBody>
                  <a:tcPr anchor="ctr">
                    <a:lnL>
                      <a:noFill/>
                    </a:lnL>
                    <a:lnR>
                      <a:noFill/>
                    </a:lnR>
                    <a:lnT>
                      <a:noFill/>
                    </a:lnT>
                    <a:lnB>
                      <a:noFill/>
                    </a:lnB>
                    <a:noFill/>
                  </a:tcPr>
                </a:tc>
                <a:extLst>
                  <a:ext uri="{0D108BD9-81ED-4DB2-BD59-A6C34878D82A}">
                    <a16:rowId xmlns:a16="http://schemas.microsoft.com/office/drawing/2014/main" val="1302824793"/>
                  </a:ext>
                </a:extLst>
              </a:tr>
            </a:tbl>
          </a:graphicData>
        </a:graphic>
      </p:graphicFrame>
      <p:graphicFrame>
        <p:nvGraphicFramePr>
          <p:cNvPr id="3" name="Table 2">
            <a:extLst>
              <a:ext uri="{FF2B5EF4-FFF2-40B4-BE49-F238E27FC236}">
                <a16:creationId xmlns:a16="http://schemas.microsoft.com/office/drawing/2014/main" id="{A68236D3-7479-7010-8BFB-DB4AC7A4A407}"/>
              </a:ext>
            </a:extLst>
          </p:cNvPr>
          <p:cNvGraphicFramePr>
            <a:graphicFrameLocks noGrp="1"/>
          </p:cNvGraphicFramePr>
          <p:nvPr>
            <p:extLst>
              <p:ext uri="{D42A27DB-BD31-4B8C-83A1-F6EECF244321}">
                <p14:modId xmlns:p14="http://schemas.microsoft.com/office/powerpoint/2010/main" val="768236790"/>
              </p:ext>
            </p:extLst>
          </p:nvPr>
        </p:nvGraphicFramePr>
        <p:xfrm>
          <a:off x="812800" y="2036064"/>
          <a:ext cx="9730232" cy="3468624"/>
        </p:xfrm>
        <a:graphic>
          <a:graphicData uri="http://schemas.openxmlformats.org/drawingml/2006/table">
            <a:tbl>
              <a:tblPr firstRow="1" bandRow="1"/>
              <a:tblGrid>
                <a:gridCol w="4865116">
                  <a:extLst>
                    <a:ext uri="{9D8B030D-6E8A-4147-A177-3AD203B41FA5}">
                      <a16:colId xmlns:a16="http://schemas.microsoft.com/office/drawing/2014/main" val="3459836618"/>
                    </a:ext>
                  </a:extLst>
                </a:gridCol>
                <a:gridCol w="4865116">
                  <a:extLst>
                    <a:ext uri="{9D8B030D-6E8A-4147-A177-3AD203B41FA5}">
                      <a16:colId xmlns:a16="http://schemas.microsoft.com/office/drawing/2014/main" val="2564381839"/>
                    </a:ext>
                  </a:extLst>
                </a:gridCol>
              </a:tblGrid>
              <a:tr h="578104">
                <a:tc>
                  <a:txBody>
                    <a:bodyPr/>
                    <a:lstStyle/>
                    <a:p>
                      <a:endParaRPr lang="en-IN" dirty="0"/>
                    </a:p>
                  </a:txBody>
                  <a:tcPr/>
                </a:tc>
                <a:tc>
                  <a:txBody>
                    <a:bodyPr/>
                    <a:lstStyle/>
                    <a:p>
                      <a:endParaRPr lang="en-IN"/>
                    </a:p>
                  </a:txBody>
                  <a:tcPr/>
                </a:tc>
                <a:extLst>
                  <a:ext uri="{0D108BD9-81ED-4DB2-BD59-A6C34878D82A}">
                    <a16:rowId xmlns:a16="http://schemas.microsoft.com/office/drawing/2014/main" val="774530959"/>
                  </a:ext>
                </a:extLst>
              </a:tr>
              <a:tr h="578104">
                <a:tc>
                  <a:txBody>
                    <a:bodyPr/>
                    <a:lstStyle/>
                    <a:p>
                      <a:endParaRPr lang="en-IN"/>
                    </a:p>
                  </a:txBody>
                  <a:tcPr/>
                </a:tc>
                <a:tc>
                  <a:txBody>
                    <a:bodyPr/>
                    <a:lstStyle/>
                    <a:p>
                      <a:endParaRPr lang="en-IN"/>
                    </a:p>
                  </a:txBody>
                  <a:tcPr/>
                </a:tc>
                <a:extLst>
                  <a:ext uri="{0D108BD9-81ED-4DB2-BD59-A6C34878D82A}">
                    <a16:rowId xmlns:a16="http://schemas.microsoft.com/office/drawing/2014/main" val="2714073974"/>
                  </a:ext>
                </a:extLst>
              </a:tr>
              <a:tr h="578104">
                <a:tc>
                  <a:txBody>
                    <a:bodyPr/>
                    <a:lstStyle/>
                    <a:p>
                      <a:endParaRPr lang="en-IN"/>
                    </a:p>
                  </a:txBody>
                  <a:tcPr/>
                </a:tc>
                <a:tc>
                  <a:txBody>
                    <a:bodyPr/>
                    <a:lstStyle/>
                    <a:p>
                      <a:endParaRPr lang="en-IN"/>
                    </a:p>
                  </a:txBody>
                  <a:tcPr/>
                </a:tc>
                <a:extLst>
                  <a:ext uri="{0D108BD9-81ED-4DB2-BD59-A6C34878D82A}">
                    <a16:rowId xmlns:a16="http://schemas.microsoft.com/office/drawing/2014/main" val="592594717"/>
                  </a:ext>
                </a:extLst>
              </a:tr>
              <a:tr h="578104">
                <a:tc>
                  <a:txBody>
                    <a:bodyPr/>
                    <a:lstStyle/>
                    <a:p>
                      <a:endParaRPr lang="en-IN"/>
                    </a:p>
                  </a:txBody>
                  <a:tcPr/>
                </a:tc>
                <a:tc>
                  <a:txBody>
                    <a:bodyPr/>
                    <a:lstStyle/>
                    <a:p>
                      <a:endParaRPr lang="en-IN" dirty="0"/>
                    </a:p>
                  </a:txBody>
                  <a:tcPr/>
                </a:tc>
                <a:extLst>
                  <a:ext uri="{0D108BD9-81ED-4DB2-BD59-A6C34878D82A}">
                    <a16:rowId xmlns:a16="http://schemas.microsoft.com/office/drawing/2014/main" val="160578504"/>
                  </a:ext>
                </a:extLst>
              </a:tr>
              <a:tr h="578104">
                <a:tc>
                  <a:txBody>
                    <a:bodyPr/>
                    <a:lstStyle/>
                    <a:p>
                      <a:endParaRPr lang="en-IN"/>
                    </a:p>
                  </a:txBody>
                  <a:tcPr/>
                </a:tc>
                <a:tc>
                  <a:txBody>
                    <a:bodyPr/>
                    <a:lstStyle/>
                    <a:p>
                      <a:endParaRPr lang="en-IN"/>
                    </a:p>
                  </a:txBody>
                  <a:tcPr/>
                </a:tc>
                <a:extLst>
                  <a:ext uri="{0D108BD9-81ED-4DB2-BD59-A6C34878D82A}">
                    <a16:rowId xmlns:a16="http://schemas.microsoft.com/office/drawing/2014/main" val="2867037449"/>
                  </a:ext>
                </a:extLst>
              </a:tr>
              <a:tr h="578104">
                <a:tc>
                  <a:txBody>
                    <a:bodyPr/>
                    <a:lstStyle/>
                    <a:p>
                      <a:endParaRPr lang="en-IN"/>
                    </a:p>
                  </a:txBody>
                  <a:tcPr/>
                </a:tc>
                <a:tc>
                  <a:txBody>
                    <a:bodyPr/>
                    <a:lstStyle/>
                    <a:p>
                      <a:endParaRPr lang="en-IN" dirty="0"/>
                    </a:p>
                  </a:txBody>
                  <a:tcPr/>
                </a:tc>
                <a:extLst>
                  <a:ext uri="{0D108BD9-81ED-4DB2-BD59-A6C34878D82A}">
                    <a16:rowId xmlns:a16="http://schemas.microsoft.com/office/drawing/2014/main" val="1806558945"/>
                  </a:ext>
                </a:extLst>
              </a:tr>
            </a:tbl>
          </a:graphicData>
        </a:graphic>
      </p:graphicFrame>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0" lvl="0" indent="0" eaLnBrk="0" fontAlgn="base" hangingPunct="0">
              <a:spcBef>
                <a:spcPct val="0"/>
              </a:spcBef>
              <a:spcAft>
                <a:spcPct val="0"/>
              </a:spcAft>
              <a:buClrTx/>
              <a:buSzTx/>
              <a:buNone/>
            </a:pPr>
            <a:r>
              <a:rPr lang="en-US" altLang="en-US" b="1" dirty="0">
                <a:solidFill>
                  <a:schemeClr val="tx1"/>
                </a:solidFill>
                <a:latin typeface="Cambria" panose="02040503050406030204" pitchFamily="18" charset="0"/>
                <a:ea typeface="Cambria" panose="02040503050406030204" pitchFamily="18" charset="0"/>
              </a:rPr>
              <a:t>Current Issue:</a:t>
            </a: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Manual evaluation is time-consuming, inconsistent, and lacks standardization.</a:t>
            </a: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Feedback is stored in scattered formats with no easy way to track or compare.</a:t>
            </a: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No automation for calculating scores or generating reports.</a:t>
            </a: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Decision-making is delayed due to lack of real-time data.</a:t>
            </a:r>
          </a:p>
          <a:p>
            <a:pPr marL="0" lvl="0" indent="0" eaLnBrk="0" fontAlgn="base" hangingPunct="0">
              <a:spcBef>
                <a:spcPct val="0"/>
              </a:spcBef>
              <a:spcAft>
                <a:spcPct val="0"/>
              </a:spcAft>
              <a:buClrTx/>
              <a:buSzTx/>
              <a:buNone/>
            </a:pP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r>
              <a:rPr lang="en-US" altLang="en-US" b="1" dirty="0">
                <a:solidFill>
                  <a:schemeClr val="tx1"/>
                </a:solidFill>
                <a:latin typeface="Cambria" panose="02040503050406030204" pitchFamily="18" charset="0"/>
                <a:ea typeface="Cambria" panose="02040503050406030204" pitchFamily="18" charset="0"/>
              </a:rPr>
              <a:t>Impact:</a:t>
            </a: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Poor quality or outdated materials may be approved.</a:t>
            </a: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Administrative burden on faculty and staff.</a:t>
            </a: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Limited transparency and accountability.</a:t>
            </a:r>
          </a:p>
          <a:p>
            <a:pPr marL="0" lvl="0" indent="0" eaLnBrk="0" fontAlgn="base" hangingPunct="0">
              <a:spcBef>
                <a:spcPct val="0"/>
              </a:spcBef>
              <a:spcAft>
                <a:spcPct val="0"/>
              </a:spcAft>
              <a:buClrTx/>
              <a:buSzTx/>
              <a:buNone/>
            </a:pP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r>
              <a:rPr lang="en-US" altLang="en-US" b="1" dirty="0">
                <a:solidFill>
                  <a:schemeClr val="tx1"/>
                </a:solidFill>
                <a:latin typeface="Cambria" panose="02040503050406030204" pitchFamily="18" charset="0"/>
                <a:ea typeface="Cambria" panose="02040503050406030204" pitchFamily="18" charset="0"/>
              </a:rPr>
              <a:t>Need:</a:t>
            </a:r>
            <a:endParaRPr lang="en-US" altLang="en-US" dirty="0">
              <a:solidFill>
                <a:schemeClr val="tx1"/>
              </a:solidFill>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FontTx/>
              <a:buChar char="•"/>
            </a:pPr>
            <a:r>
              <a:rPr lang="en-US" altLang="en-US" dirty="0">
                <a:solidFill>
                  <a:schemeClr val="tx1"/>
                </a:solidFill>
                <a:latin typeface="Cambria" panose="02040503050406030204" pitchFamily="18" charset="0"/>
                <a:ea typeface="Cambria" panose="02040503050406030204" pitchFamily="18" charset="0"/>
              </a:rPr>
              <a:t>A </a:t>
            </a:r>
            <a:r>
              <a:rPr lang="en-US" altLang="en-US" b="1" dirty="0">
                <a:solidFill>
                  <a:schemeClr val="tx1"/>
                </a:solidFill>
                <a:latin typeface="Cambria" panose="02040503050406030204" pitchFamily="18" charset="0"/>
                <a:ea typeface="Cambria" panose="02040503050406030204" pitchFamily="18" charset="0"/>
              </a:rPr>
              <a:t>centralized</a:t>
            </a:r>
            <a:r>
              <a:rPr lang="en-US" altLang="en-US" dirty="0">
                <a:solidFill>
                  <a:schemeClr val="tx1"/>
                </a:solidFill>
                <a:latin typeface="Cambria" panose="02040503050406030204" pitchFamily="18" charset="0"/>
                <a:ea typeface="Cambria" panose="02040503050406030204" pitchFamily="18" charset="0"/>
              </a:rPr>
              <a:t>, </a:t>
            </a:r>
            <a:r>
              <a:rPr lang="en-US" altLang="en-US" b="1" dirty="0">
                <a:solidFill>
                  <a:schemeClr val="tx1"/>
                </a:solidFill>
                <a:latin typeface="Cambria" panose="02040503050406030204" pitchFamily="18" charset="0"/>
                <a:ea typeface="Cambria" panose="02040503050406030204" pitchFamily="18" charset="0"/>
              </a:rPr>
              <a:t>automated</a:t>
            </a:r>
            <a:r>
              <a:rPr lang="en-US" altLang="en-US" dirty="0">
                <a:solidFill>
                  <a:schemeClr val="tx1"/>
                </a:solidFill>
                <a:latin typeface="Cambria" panose="02040503050406030204" pitchFamily="18" charset="0"/>
                <a:ea typeface="Cambria" panose="02040503050406030204" pitchFamily="18" charset="0"/>
              </a:rPr>
              <a:t>, and </a:t>
            </a:r>
            <a:r>
              <a:rPr lang="en-US" altLang="en-US" b="1" dirty="0">
                <a:solidFill>
                  <a:schemeClr val="tx1"/>
                </a:solidFill>
                <a:latin typeface="Cambria" panose="02040503050406030204" pitchFamily="18" charset="0"/>
                <a:ea typeface="Cambria" panose="02040503050406030204" pitchFamily="18" charset="0"/>
              </a:rPr>
              <a:t>data-driven</a:t>
            </a:r>
            <a:r>
              <a:rPr lang="en-US" altLang="en-US" dirty="0">
                <a:solidFill>
                  <a:schemeClr val="tx1"/>
                </a:solidFill>
                <a:latin typeface="Cambria" panose="02040503050406030204" pitchFamily="18" charset="0"/>
                <a:ea typeface="Cambria" panose="02040503050406030204" pitchFamily="18" charset="0"/>
              </a:rPr>
              <a:t> system for quality assessment.</a:t>
            </a: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48C99-D13F-06CF-3F6C-A9140E099D0B}"/>
              </a:ext>
            </a:extLst>
          </p:cNvPr>
          <p:cNvSpPr>
            <a:spLocks noGrp="1"/>
          </p:cNvSpPr>
          <p:nvPr>
            <p:ph type="title"/>
          </p:nvPr>
        </p:nvSpPr>
        <p:spPr/>
        <p:txBody>
          <a:bodyPr/>
          <a:lstStyle/>
          <a:p>
            <a:r>
              <a:rPr lang="en-IN" dirty="0"/>
              <a:t>Analysis Through Line Chart ✅</a:t>
            </a:r>
          </a:p>
        </p:txBody>
      </p:sp>
      <p:pic>
        <p:nvPicPr>
          <p:cNvPr id="5" name="Picture 4">
            <a:extLst>
              <a:ext uri="{FF2B5EF4-FFF2-40B4-BE49-F238E27FC236}">
                <a16:creationId xmlns:a16="http://schemas.microsoft.com/office/drawing/2014/main" id="{C1C69B6B-8517-1D18-C842-977F45E0EBCA}"/>
              </a:ext>
            </a:extLst>
          </p:cNvPr>
          <p:cNvPicPr>
            <a:picLocks noChangeAspect="1"/>
          </p:cNvPicPr>
          <p:nvPr/>
        </p:nvPicPr>
        <p:blipFill>
          <a:blip r:embed="rId2"/>
          <a:stretch>
            <a:fillRect/>
          </a:stretch>
        </p:blipFill>
        <p:spPr>
          <a:xfrm>
            <a:off x="2612809" y="1091837"/>
            <a:ext cx="6476328" cy="5049884"/>
          </a:xfrm>
          <a:prstGeom prst="rect">
            <a:avLst/>
          </a:prstGeom>
        </p:spPr>
      </p:pic>
    </p:spTree>
    <p:extLst>
      <p:ext uri="{BB962C8B-B14F-4D97-AF65-F5344CB8AC3E}">
        <p14:creationId xmlns:p14="http://schemas.microsoft.com/office/powerpoint/2010/main" val="1745493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DCB839EB-41EF-3CF1-2626-737BC84DA78F}"/>
              </a:ext>
            </a:extLst>
          </p:cNvPr>
          <p:cNvGraphicFramePr>
            <a:graphicFrameLocks noGrp="1"/>
          </p:cNvGraphicFramePr>
          <p:nvPr>
            <p:extLst>
              <p:ext uri="{D42A27DB-BD31-4B8C-83A1-F6EECF244321}">
                <p14:modId xmlns:p14="http://schemas.microsoft.com/office/powerpoint/2010/main" val="1443874306"/>
              </p:ext>
            </p:extLst>
          </p:nvPr>
        </p:nvGraphicFramePr>
        <p:xfrm>
          <a:off x="67377" y="993024"/>
          <a:ext cx="12378087" cy="4957428"/>
        </p:xfrm>
        <a:graphic>
          <a:graphicData uri="http://schemas.openxmlformats.org/drawingml/2006/table">
            <a:tbl>
              <a:tblPr/>
              <a:tblGrid>
                <a:gridCol w="1375343">
                  <a:extLst>
                    <a:ext uri="{9D8B030D-6E8A-4147-A177-3AD203B41FA5}">
                      <a16:colId xmlns:a16="http://schemas.microsoft.com/office/drawing/2014/main" val="2573539532"/>
                    </a:ext>
                  </a:extLst>
                </a:gridCol>
                <a:gridCol w="1375343">
                  <a:extLst>
                    <a:ext uri="{9D8B030D-6E8A-4147-A177-3AD203B41FA5}">
                      <a16:colId xmlns:a16="http://schemas.microsoft.com/office/drawing/2014/main" val="536620191"/>
                    </a:ext>
                  </a:extLst>
                </a:gridCol>
                <a:gridCol w="1375343">
                  <a:extLst>
                    <a:ext uri="{9D8B030D-6E8A-4147-A177-3AD203B41FA5}">
                      <a16:colId xmlns:a16="http://schemas.microsoft.com/office/drawing/2014/main" val="3491328624"/>
                    </a:ext>
                  </a:extLst>
                </a:gridCol>
                <a:gridCol w="1375343">
                  <a:extLst>
                    <a:ext uri="{9D8B030D-6E8A-4147-A177-3AD203B41FA5}">
                      <a16:colId xmlns:a16="http://schemas.microsoft.com/office/drawing/2014/main" val="2546634336"/>
                    </a:ext>
                  </a:extLst>
                </a:gridCol>
                <a:gridCol w="1375343">
                  <a:extLst>
                    <a:ext uri="{9D8B030D-6E8A-4147-A177-3AD203B41FA5}">
                      <a16:colId xmlns:a16="http://schemas.microsoft.com/office/drawing/2014/main" val="2882573078"/>
                    </a:ext>
                  </a:extLst>
                </a:gridCol>
                <a:gridCol w="1375343">
                  <a:extLst>
                    <a:ext uri="{9D8B030D-6E8A-4147-A177-3AD203B41FA5}">
                      <a16:colId xmlns:a16="http://schemas.microsoft.com/office/drawing/2014/main" val="3501370062"/>
                    </a:ext>
                  </a:extLst>
                </a:gridCol>
                <a:gridCol w="1375343">
                  <a:extLst>
                    <a:ext uri="{9D8B030D-6E8A-4147-A177-3AD203B41FA5}">
                      <a16:colId xmlns:a16="http://schemas.microsoft.com/office/drawing/2014/main" val="3714841057"/>
                    </a:ext>
                  </a:extLst>
                </a:gridCol>
                <a:gridCol w="1375343">
                  <a:extLst>
                    <a:ext uri="{9D8B030D-6E8A-4147-A177-3AD203B41FA5}">
                      <a16:colId xmlns:a16="http://schemas.microsoft.com/office/drawing/2014/main" val="2368935465"/>
                    </a:ext>
                  </a:extLst>
                </a:gridCol>
                <a:gridCol w="1375343">
                  <a:extLst>
                    <a:ext uri="{9D8B030D-6E8A-4147-A177-3AD203B41FA5}">
                      <a16:colId xmlns:a16="http://schemas.microsoft.com/office/drawing/2014/main" val="1954199068"/>
                    </a:ext>
                  </a:extLst>
                </a:gridCol>
              </a:tblGrid>
              <a:tr h="276704">
                <a:tc>
                  <a:txBody>
                    <a:bodyPr/>
                    <a:lstStyle/>
                    <a:p>
                      <a:pPr>
                        <a:buNone/>
                      </a:pPr>
                      <a:r>
                        <a:rPr lang="en-IN" sz="1300"/>
                        <a:t>Phase</a:t>
                      </a:r>
                    </a:p>
                  </a:txBody>
                  <a:tcPr marL="83011" marR="83011" marT="41506" marB="41506" anchor="ctr">
                    <a:lnL>
                      <a:noFill/>
                    </a:lnL>
                    <a:lnR>
                      <a:noFill/>
                    </a:lnR>
                    <a:lnT>
                      <a:noFill/>
                    </a:lnT>
                    <a:lnB>
                      <a:noFill/>
                    </a:lnB>
                    <a:noFill/>
                  </a:tcPr>
                </a:tc>
                <a:tc>
                  <a:txBody>
                    <a:bodyPr/>
                    <a:lstStyle/>
                    <a:p>
                      <a:pPr>
                        <a:buNone/>
                      </a:pPr>
                      <a:r>
                        <a:rPr lang="en-IN" sz="1300"/>
                        <a:t>Week 1</a:t>
                      </a:r>
                    </a:p>
                  </a:txBody>
                  <a:tcPr marL="83011" marR="83011" marT="41506" marB="41506" anchor="ctr">
                    <a:lnL>
                      <a:noFill/>
                    </a:lnL>
                    <a:lnR>
                      <a:noFill/>
                    </a:lnR>
                    <a:lnT>
                      <a:noFill/>
                    </a:lnT>
                    <a:lnB>
                      <a:noFill/>
                    </a:lnB>
                    <a:noFill/>
                  </a:tcPr>
                </a:tc>
                <a:tc>
                  <a:txBody>
                    <a:bodyPr/>
                    <a:lstStyle/>
                    <a:p>
                      <a:pPr>
                        <a:buNone/>
                      </a:pPr>
                      <a:r>
                        <a:rPr lang="en-IN" sz="1300"/>
                        <a:t>Week 2</a:t>
                      </a:r>
                    </a:p>
                  </a:txBody>
                  <a:tcPr marL="83011" marR="83011" marT="41506" marB="41506" anchor="ctr">
                    <a:lnL>
                      <a:noFill/>
                    </a:lnL>
                    <a:lnR>
                      <a:noFill/>
                    </a:lnR>
                    <a:lnT>
                      <a:noFill/>
                    </a:lnT>
                    <a:lnB>
                      <a:noFill/>
                    </a:lnB>
                    <a:noFill/>
                  </a:tcPr>
                </a:tc>
                <a:tc>
                  <a:txBody>
                    <a:bodyPr/>
                    <a:lstStyle/>
                    <a:p>
                      <a:pPr>
                        <a:buNone/>
                      </a:pPr>
                      <a:r>
                        <a:rPr lang="en-IN" sz="1300"/>
                        <a:t>Week 3</a:t>
                      </a:r>
                    </a:p>
                  </a:txBody>
                  <a:tcPr marL="83011" marR="83011" marT="41506" marB="41506" anchor="ctr">
                    <a:lnL>
                      <a:noFill/>
                    </a:lnL>
                    <a:lnR>
                      <a:noFill/>
                    </a:lnR>
                    <a:lnT>
                      <a:noFill/>
                    </a:lnT>
                    <a:lnB>
                      <a:noFill/>
                    </a:lnB>
                    <a:noFill/>
                  </a:tcPr>
                </a:tc>
                <a:tc>
                  <a:txBody>
                    <a:bodyPr/>
                    <a:lstStyle/>
                    <a:p>
                      <a:pPr>
                        <a:buNone/>
                      </a:pPr>
                      <a:r>
                        <a:rPr lang="en-IN" sz="1300"/>
                        <a:t>Week 4</a:t>
                      </a:r>
                    </a:p>
                  </a:txBody>
                  <a:tcPr marL="83011" marR="83011" marT="41506" marB="41506" anchor="ctr">
                    <a:lnL>
                      <a:noFill/>
                    </a:lnL>
                    <a:lnR>
                      <a:noFill/>
                    </a:lnR>
                    <a:lnT>
                      <a:noFill/>
                    </a:lnT>
                    <a:lnB>
                      <a:noFill/>
                    </a:lnB>
                    <a:noFill/>
                  </a:tcPr>
                </a:tc>
                <a:tc>
                  <a:txBody>
                    <a:bodyPr/>
                    <a:lstStyle/>
                    <a:p>
                      <a:pPr>
                        <a:buNone/>
                      </a:pPr>
                      <a:r>
                        <a:rPr lang="en-IN" sz="1300"/>
                        <a:t>Week 5</a:t>
                      </a:r>
                    </a:p>
                  </a:txBody>
                  <a:tcPr marL="83011" marR="83011" marT="41506" marB="41506" anchor="ctr">
                    <a:lnL>
                      <a:noFill/>
                    </a:lnL>
                    <a:lnR>
                      <a:noFill/>
                    </a:lnR>
                    <a:lnT>
                      <a:noFill/>
                    </a:lnT>
                    <a:lnB>
                      <a:noFill/>
                    </a:lnB>
                    <a:noFill/>
                  </a:tcPr>
                </a:tc>
                <a:tc>
                  <a:txBody>
                    <a:bodyPr/>
                    <a:lstStyle/>
                    <a:p>
                      <a:pPr>
                        <a:buNone/>
                      </a:pPr>
                      <a:r>
                        <a:rPr lang="en-IN" sz="1300"/>
                        <a:t>Week 6</a:t>
                      </a:r>
                    </a:p>
                  </a:txBody>
                  <a:tcPr marL="83011" marR="83011" marT="41506" marB="41506" anchor="ctr">
                    <a:lnL>
                      <a:noFill/>
                    </a:lnL>
                    <a:lnR>
                      <a:noFill/>
                    </a:lnR>
                    <a:lnT>
                      <a:noFill/>
                    </a:lnT>
                    <a:lnB>
                      <a:noFill/>
                    </a:lnB>
                    <a:noFill/>
                  </a:tcPr>
                </a:tc>
                <a:tc>
                  <a:txBody>
                    <a:bodyPr/>
                    <a:lstStyle/>
                    <a:p>
                      <a:pPr>
                        <a:buNone/>
                      </a:pPr>
                      <a:r>
                        <a:rPr lang="en-IN" sz="1300"/>
                        <a:t>Week 7</a:t>
                      </a:r>
                    </a:p>
                  </a:txBody>
                  <a:tcPr marL="83011" marR="83011" marT="41506" marB="41506" anchor="ctr">
                    <a:lnL>
                      <a:noFill/>
                    </a:lnL>
                    <a:lnR>
                      <a:noFill/>
                    </a:lnR>
                    <a:lnT>
                      <a:noFill/>
                    </a:lnT>
                    <a:lnB>
                      <a:noFill/>
                    </a:lnB>
                    <a:noFill/>
                  </a:tcPr>
                </a:tc>
                <a:tc>
                  <a:txBody>
                    <a:bodyPr/>
                    <a:lstStyle/>
                    <a:p>
                      <a:pPr>
                        <a:buNone/>
                      </a:pPr>
                      <a:r>
                        <a:rPr lang="en-IN" sz="1300"/>
                        <a:t>Week 8</a:t>
                      </a:r>
                    </a:p>
                  </a:txBody>
                  <a:tcPr marL="83011" marR="83011" marT="41506" marB="41506" anchor="ctr">
                    <a:lnL>
                      <a:noFill/>
                    </a:lnL>
                    <a:lnR>
                      <a:noFill/>
                    </a:lnR>
                    <a:lnT>
                      <a:noFill/>
                    </a:lnT>
                    <a:lnB>
                      <a:noFill/>
                    </a:lnB>
                    <a:noFill/>
                  </a:tcPr>
                </a:tc>
                <a:extLst>
                  <a:ext uri="{0D108BD9-81ED-4DB2-BD59-A6C34878D82A}">
                    <a16:rowId xmlns:a16="http://schemas.microsoft.com/office/drawing/2014/main" val="1798152899"/>
                  </a:ext>
                </a:extLst>
              </a:tr>
              <a:tr h="1051475">
                <a:tc>
                  <a:txBody>
                    <a:bodyPr/>
                    <a:lstStyle/>
                    <a:p>
                      <a:pPr>
                        <a:buNone/>
                      </a:pPr>
                      <a:r>
                        <a:rPr lang="en-IN" sz="1300" b="1"/>
                        <a:t>1. Requirement Gathering &amp; Analysis</a:t>
                      </a: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1149716505"/>
                  </a:ext>
                </a:extLst>
              </a:tr>
              <a:tr h="857782">
                <a:tc>
                  <a:txBody>
                    <a:bodyPr/>
                    <a:lstStyle/>
                    <a:p>
                      <a:pPr>
                        <a:buNone/>
                      </a:pPr>
                      <a:r>
                        <a:rPr lang="en-US" sz="1300" b="1"/>
                        <a:t>2. Design (UI/UX &amp; Architecture)</a:t>
                      </a:r>
                      <a:endParaRPr lang="en-US"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1857165368"/>
                  </a:ext>
                </a:extLst>
              </a:tr>
              <a:tr h="1051475">
                <a:tc>
                  <a:txBody>
                    <a:bodyPr/>
                    <a:lstStyle/>
                    <a:p>
                      <a:pPr>
                        <a:buNone/>
                      </a:pPr>
                      <a:r>
                        <a:rPr lang="en-IN" sz="1300" b="1"/>
                        <a:t>3. Development (Frontend &amp; Backend)</a:t>
                      </a: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567889540"/>
                  </a:ext>
                </a:extLst>
              </a:tr>
              <a:tr h="664089">
                <a:tc>
                  <a:txBody>
                    <a:bodyPr/>
                    <a:lstStyle/>
                    <a:p>
                      <a:pPr>
                        <a:buNone/>
                      </a:pPr>
                      <a:r>
                        <a:rPr lang="en-IN" sz="1300" b="1"/>
                        <a:t>4. Testing &amp; Debugging</a:t>
                      </a: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2839919912"/>
                  </a:ext>
                </a:extLst>
              </a:tr>
              <a:tr h="1051475">
                <a:tc>
                  <a:txBody>
                    <a:bodyPr/>
                    <a:lstStyle/>
                    <a:p>
                      <a:pPr>
                        <a:buNone/>
                      </a:pPr>
                      <a:r>
                        <a:rPr lang="en-IN" sz="1300" b="1"/>
                        <a:t>5. Deployment &amp; Documentation</a:t>
                      </a: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dirty="0"/>
                        <a:t>██████</a:t>
                      </a:r>
                    </a:p>
                  </a:txBody>
                  <a:tcPr marL="83011" marR="83011" marT="41506" marB="41506" anchor="ctr">
                    <a:lnL>
                      <a:noFill/>
                    </a:lnL>
                    <a:lnR>
                      <a:noFill/>
                    </a:lnR>
                    <a:lnT>
                      <a:noFill/>
                    </a:lnT>
                    <a:lnB>
                      <a:noFill/>
                    </a:lnB>
                    <a:noFill/>
                  </a:tcPr>
                </a:tc>
                <a:extLst>
                  <a:ext uri="{0D108BD9-81ED-4DB2-BD59-A6C34878D82A}">
                    <a16:rowId xmlns:a16="http://schemas.microsoft.com/office/drawing/2014/main" val="1597888679"/>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562855"/>
          </a:xfrm>
          <a:prstGeom prst="rect">
            <a:avLst/>
          </a:prstGeom>
          <a:noFill/>
          <a:ln>
            <a:noFill/>
          </a:ln>
        </p:spPr>
        <p:txBody>
          <a:bodyPr spcFirstLastPara="1" wrap="square" lIns="91425" tIns="45700" rIns="91425" bIns="45700" anchor="t" anchorCtr="0">
            <a:normAutofit fontScale="62500" lnSpcReduction="20000"/>
          </a:bodyPr>
          <a:lstStyle/>
          <a:p>
            <a:pPr>
              <a:buFont typeface="Wingdings" panose="05000000000000000000" pitchFamily="2" charset="2"/>
              <a:buChar char="§"/>
            </a:pPr>
            <a:r>
              <a:rPr lang="en-US" sz="2600" dirty="0">
                <a:latin typeface="Cambria" panose="02040503050406030204" pitchFamily="18" charset="0"/>
                <a:ea typeface="Cambria" panose="02040503050406030204" pitchFamily="18" charset="0"/>
              </a:rPr>
              <a:t>[1] </a:t>
            </a:r>
            <a:r>
              <a:rPr lang="en-US" sz="2600" i="1" dirty="0">
                <a:latin typeface="Cambria" panose="02040503050406030204" pitchFamily="18" charset="0"/>
                <a:ea typeface="Cambria" panose="02040503050406030204" pitchFamily="18" charset="0"/>
              </a:rPr>
              <a:t>Application for Assessment of Quality of Textbook/Reference Book/E-Books</a:t>
            </a:r>
            <a:r>
              <a:rPr lang="en-US" sz="2600" dirty="0">
                <a:latin typeface="Cambria" panose="02040503050406030204" pitchFamily="18" charset="0"/>
                <a:ea typeface="Cambria" panose="02040503050406030204" pitchFamily="18" charset="0"/>
              </a:rPr>
              <a:t>, International Journal of Engineering Innovations and Management Strategies, published circa early 2025 (about six months ago) </a:t>
            </a:r>
            <a:r>
              <a:rPr lang="en-US" sz="2600" dirty="0">
                <a:latin typeface="Cambria" panose="02040503050406030204" pitchFamily="18" charset="0"/>
                <a:ea typeface="Cambria" panose="02040503050406030204" pitchFamily="18" charset="0"/>
                <a:hlinkClick r:id="rId3"/>
              </a:rPr>
              <a:t>IJEIMS</a:t>
            </a:r>
            <a:r>
              <a:rPr lang="en-US" sz="2600" dirty="0">
                <a:latin typeface="Cambria" panose="02040503050406030204" pitchFamily="18" charset="0"/>
                <a:ea typeface="Cambria" panose="02040503050406030204" pitchFamily="18" charset="0"/>
              </a:rPr>
              <a:t>.</a:t>
            </a:r>
          </a:p>
          <a:p>
            <a:pPr>
              <a:buFont typeface="Wingdings" panose="05000000000000000000" pitchFamily="2" charset="2"/>
              <a:buChar char="§"/>
            </a:pPr>
            <a:endParaRPr lang="en-US" sz="2600"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US" sz="2600" dirty="0">
                <a:latin typeface="Cambria" panose="02040503050406030204" pitchFamily="18" charset="0"/>
                <a:ea typeface="Cambria" panose="02040503050406030204" pitchFamily="18" charset="0"/>
              </a:rPr>
              <a:t>[2] Q. Zhou, “Evaluating book impacts via integrating multi-source reviews,” </a:t>
            </a:r>
            <a:r>
              <a:rPr lang="en-US" sz="2600" i="1" dirty="0" err="1">
                <a:latin typeface="Cambria" panose="02040503050406030204" pitchFamily="18" charset="0"/>
                <a:ea typeface="Cambria" panose="02040503050406030204" pitchFamily="18" charset="0"/>
              </a:rPr>
              <a:t>Scientometrics</a:t>
            </a:r>
            <a:r>
              <a:rPr lang="en-US" sz="2600" dirty="0">
                <a:latin typeface="Cambria" panose="02040503050406030204" pitchFamily="18" charset="0"/>
                <a:ea typeface="Cambria" panose="02040503050406030204" pitchFamily="18" charset="0"/>
              </a:rPr>
              <a:t>, vol. 129, 2024</a:t>
            </a:r>
          </a:p>
          <a:p>
            <a:pPr>
              <a:buFont typeface="Wingdings" panose="05000000000000000000" pitchFamily="2" charset="2"/>
              <a:buChar char="§"/>
            </a:pP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sz="2600" dirty="0">
                <a:latin typeface="Cambria" panose="02040503050406030204" pitchFamily="18" charset="0"/>
                <a:ea typeface="Cambria" panose="02040503050406030204" pitchFamily="18" charset="0"/>
              </a:rPr>
              <a:t>[3] R. K. Singh and A. Sharma, "Design and development of web-based evaluation system for academic resources," </a:t>
            </a:r>
            <a:r>
              <a:rPr lang="en-IN" sz="2600" i="1" dirty="0">
                <a:latin typeface="Cambria" panose="02040503050406030204" pitchFamily="18" charset="0"/>
                <a:ea typeface="Cambria" panose="02040503050406030204" pitchFamily="18" charset="0"/>
              </a:rPr>
              <a:t>International Journal of Computer Applications</a:t>
            </a:r>
            <a:r>
              <a:rPr lang="en-IN" sz="2600" dirty="0">
                <a:latin typeface="Cambria" panose="02040503050406030204" pitchFamily="18" charset="0"/>
                <a:ea typeface="Cambria" panose="02040503050406030204" pitchFamily="18" charset="0"/>
              </a:rPr>
              <a:t>, vol. 183, no. 8, pp. 25–30, June 2021.</a:t>
            </a:r>
          </a:p>
          <a:p>
            <a:pPr marL="76200" indent="0">
              <a:buNone/>
            </a:pPr>
            <a:endParaRPr lang="en-IN" sz="2600" dirty="0">
              <a:latin typeface="Cambria" panose="02040503050406030204" pitchFamily="18" charset="0"/>
              <a:ea typeface="Cambria" panose="02040503050406030204" pitchFamily="18" charset="0"/>
            </a:endParaRPr>
          </a:p>
          <a:p>
            <a:pPr>
              <a:buFont typeface="Wingdings" panose="05000000000000000000" pitchFamily="2" charset="2"/>
              <a:buChar char="§"/>
            </a:pPr>
            <a:r>
              <a:rPr lang="en-IN" sz="2600" dirty="0">
                <a:latin typeface="Cambria" panose="02040503050406030204" pitchFamily="18" charset="0"/>
                <a:ea typeface="Cambria" panose="02040503050406030204" pitchFamily="18" charset="0"/>
              </a:rPr>
              <a:t>[4] S. R. K. Somasekhar, P. V. Kumar, and R. J. Reddy, "Automated assessment of educational content using multi-criteria analysis," in </a:t>
            </a:r>
            <a:r>
              <a:rPr lang="en-IN" sz="2600" i="1" dirty="0">
                <a:latin typeface="Cambria" panose="02040503050406030204" pitchFamily="18" charset="0"/>
                <a:ea typeface="Cambria" panose="02040503050406030204" pitchFamily="18" charset="0"/>
              </a:rPr>
              <a:t>Proc. IEEE International Conf. on Technology for Education (T4E)</a:t>
            </a:r>
            <a:r>
              <a:rPr lang="en-IN" sz="2600" dirty="0">
                <a:latin typeface="Cambria" panose="02040503050406030204" pitchFamily="18" charset="0"/>
                <a:ea typeface="Cambria" panose="02040503050406030204" pitchFamily="18" charset="0"/>
              </a:rPr>
              <a:t>, Mumbai, India, 2020, pp. 215–220.</a:t>
            </a:r>
          </a:p>
          <a:p>
            <a:pPr>
              <a:buFont typeface="Wingdings" panose="05000000000000000000" pitchFamily="2" charset="2"/>
              <a:buChar char="§"/>
            </a:pPr>
            <a:r>
              <a:rPr lang="en-IN" sz="2600" dirty="0">
                <a:latin typeface="Cambria" panose="02040503050406030204" pitchFamily="18" charset="0"/>
                <a:ea typeface="Cambria" panose="02040503050406030204" pitchFamily="18" charset="0"/>
              </a:rPr>
              <a:t>[5] M. A. Al-Emran, "Towards an intelligent framework for textbook evaluation in higher education," </a:t>
            </a:r>
            <a:r>
              <a:rPr lang="en-IN" sz="2600" i="1" dirty="0">
                <a:latin typeface="Cambria" panose="02040503050406030204" pitchFamily="18" charset="0"/>
                <a:ea typeface="Cambria" panose="02040503050406030204" pitchFamily="18" charset="0"/>
              </a:rPr>
              <a:t>Education and Information Technologies</a:t>
            </a:r>
            <a:r>
              <a:rPr lang="en-IN" sz="2600" dirty="0">
                <a:latin typeface="Cambria" panose="02040503050406030204" pitchFamily="18" charset="0"/>
                <a:ea typeface="Cambria" panose="02040503050406030204" pitchFamily="18" charset="0"/>
              </a:rPr>
              <a:t>, vol. 24, no. 2, pp. 1453–1468, Mar. 2019.</a:t>
            </a:r>
          </a:p>
          <a:p>
            <a:pPr>
              <a:buFont typeface="Wingdings" panose="05000000000000000000" pitchFamily="2" charset="2"/>
              <a:buChar char="§"/>
            </a:pPr>
            <a:r>
              <a:rPr lang="en-IN" sz="2600" dirty="0">
                <a:latin typeface="Cambria" panose="02040503050406030204" pitchFamily="18" charset="0"/>
                <a:ea typeface="Cambria" panose="02040503050406030204" pitchFamily="18" charset="0"/>
              </a:rPr>
              <a:t>[6] N. G. T. Izquierdo, L. A. G. Villalobos, and J. D. M. Ramírez, "A framework for the evaluation of e-learning materials," in </a:t>
            </a:r>
            <a:r>
              <a:rPr lang="en-IN" sz="2600" i="1" dirty="0">
                <a:latin typeface="Cambria" panose="02040503050406030204" pitchFamily="18" charset="0"/>
                <a:ea typeface="Cambria" panose="02040503050406030204" pitchFamily="18" charset="0"/>
              </a:rPr>
              <a:t>Proc. IEEE Global Engineering Education Conf. (EDUCON)</a:t>
            </a:r>
            <a:r>
              <a:rPr lang="en-IN" sz="2600" dirty="0">
                <a:latin typeface="Cambria" panose="02040503050406030204" pitchFamily="18" charset="0"/>
                <a:ea typeface="Cambria" panose="02040503050406030204" pitchFamily="18" charset="0"/>
              </a:rPr>
              <a:t>, Abu Dhabi, UAE, 2016, pp. 1129–1134.</a:t>
            </a:r>
          </a:p>
          <a:p>
            <a:pPr>
              <a:buFont typeface="Wingdings" panose="05000000000000000000" pitchFamily="2" charset="2"/>
              <a:buChar char="§"/>
            </a:pPr>
            <a:r>
              <a:rPr lang="en-IN" sz="2600" dirty="0">
                <a:latin typeface="Cambria" panose="02040503050406030204" pitchFamily="18" charset="0"/>
                <a:ea typeface="Cambria" panose="02040503050406030204" pitchFamily="18" charset="0"/>
              </a:rPr>
              <a:t>[7] T. M. Connolly and E. A. Stansfield, "Evaluating the quality of learning resources: A web-based approach," in </a:t>
            </a:r>
            <a:r>
              <a:rPr lang="en-IN" sz="2600" i="1" dirty="0">
                <a:latin typeface="Cambria" panose="02040503050406030204" pitchFamily="18" charset="0"/>
                <a:ea typeface="Cambria" panose="02040503050406030204" pitchFamily="18" charset="0"/>
              </a:rPr>
              <a:t>Proc. IEEE International Conf. on Advanced Learning Technologies (ICALT)</a:t>
            </a:r>
            <a:r>
              <a:rPr lang="en-IN" sz="2600" dirty="0">
                <a:latin typeface="Cambria" panose="02040503050406030204" pitchFamily="18" charset="0"/>
                <a:ea typeface="Cambria" panose="02040503050406030204" pitchFamily="18" charset="0"/>
              </a:rPr>
              <a:t>, Athens, Greece, 2014, pp. 37–41.</a:t>
            </a: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439</TotalTime>
  <Words>1209</Words>
  <Application>Microsoft Office PowerPoint</Application>
  <PresentationFormat>Widescreen</PresentationFormat>
  <Paragraphs>147</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Bernard MT Condensed</vt:lpstr>
      <vt:lpstr>Cambria</vt:lpstr>
      <vt:lpstr>Verdana</vt:lpstr>
      <vt:lpstr>Wingdings</vt:lpstr>
      <vt:lpstr>Bioinformatics</vt:lpstr>
      <vt:lpstr>PSCS_46_Application for Assessment of Quality of Textbook/ Reference Books/E-Books </vt:lpstr>
      <vt:lpstr>Problem Statement Number : PSCS_46 </vt:lpstr>
      <vt:lpstr>Content</vt:lpstr>
      <vt:lpstr>Problem Statement : How it Works</vt:lpstr>
      <vt:lpstr>Steps Requirement</vt:lpstr>
      <vt:lpstr>Github Link</vt:lpstr>
      <vt:lpstr>Analysis of Problem Statement (contd...)</vt:lpstr>
      <vt:lpstr>Analysis of Problem Statement (contd...)</vt:lpstr>
      <vt:lpstr>Analysis Through Line Chart ✅</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Syed Thousif</cp:lastModifiedBy>
  <cp:revision>47</cp:revision>
  <dcterms:modified xsi:type="dcterms:W3CDTF">2025-09-22T08:53:36Z</dcterms:modified>
</cp:coreProperties>
</file>