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8" r:id="rId6"/>
    <p:sldId id="273" r:id="rId7"/>
    <p:sldId id="268" r:id="rId8"/>
    <p:sldId id="272" r:id="rId9"/>
    <p:sldId id="271" r:id="rId10"/>
    <p:sldId id="276" r:id="rId11"/>
    <p:sldId id="277" r:id="rId12"/>
    <p:sldId id="279"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28295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journaleims.com/application-for-assessment-of-quality-of-textbook-reference-book-e-books/?utm_source=chatgpt.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PSCS_46_Application for Assessment of Quality of Textbook/ Reference Books/E-Books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 CSE_23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7507223" y="2235290"/>
            <a:ext cx="4487271" cy="275733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a:t>
            </a:r>
            <a:r>
              <a:rPr lang="en-IN" sz="1700" dirty="0" err="1"/>
              <a:t>Ms.Kummara</a:t>
            </a:r>
            <a:r>
              <a:rPr lang="en-IN" sz="1700" dirty="0"/>
              <a:t> Sruthi &amp;</a:t>
            </a:r>
          </a:p>
          <a:p>
            <a:pPr lvl="0">
              <a:spcBef>
                <a:spcPts val="340"/>
              </a:spcBef>
              <a:buClr>
                <a:srgbClr val="17365D"/>
              </a:buClr>
              <a:buSzPts val="1700"/>
            </a:pPr>
            <a:r>
              <a:rPr lang="en-IN" sz="1700" dirty="0" err="1"/>
              <a:t>Ms.Shweta</a:t>
            </a:r>
            <a:r>
              <a:rPr lang="en-IN" sz="1700" dirty="0"/>
              <a:t> Singh</a:t>
            </a:r>
            <a:endParaRPr sz="17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981414951"/>
              </p:ext>
            </p:extLst>
          </p:nvPr>
        </p:nvGraphicFramePr>
        <p:xfrm>
          <a:off x="553394" y="2423592"/>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131576">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31576">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 </a:t>
            </a:r>
            <a:r>
              <a:rPr lang="en-US" sz="1800" dirty="0">
                <a:solidFill>
                  <a:schemeClr val="tx1"/>
                </a:solidFill>
                <a:latin typeface="+mj-lt"/>
                <a:ea typeface="Cambria" panose="02040503050406030204" pitchFamily="18" charset="0"/>
                <a:cs typeface="Verdana"/>
                <a:sym typeface="Verdana"/>
              </a:rPr>
              <a:t>School of Computer Science &amp; Engineering</a:t>
            </a:r>
            <a:endParaRPr lang="en-US" sz="1800" i="0" u="none" strike="noStrike" cap="none" dirty="0">
              <a:solidFill>
                <a:schemeClr val="tx1"/>
              </a:solidFill>
              <a:latin typeface="+mj-lt"/>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 </a:t>
            </a:r>
            <a:r>
              <a:rPr lang="en-IN" sz="1800"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 </a:t>
            </a:r>
            <a:r>
              <a:rPr lang="en-IN" sz="1800" dirty="0" err="1"/>
              <a:t>Dr.Jayavadivel</a:t>
            </a:r>
            <a:r>
              <a:rPr lang="en-IN" sz="1800" dirty="0"/>
              <a:t> Ravi , Mr. </a:t>
            </a:r>
            <a:r>
              <a:rPr lang="en-IN" sz="1800" dirty="0" err="1"/>
              <a:t>Muthuraju</a:t>
            </a:r>
            <a:r>
              <a:rPr lang="en-IN" sz="1800" dirty="0"/>
              <a:t> V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 </a:t>
            </a:r>
            <a:r>
              <a:rPr lang="en-US" sz="1800" i="0" u="none" strike="noStrike" cap="none" dirty="0" err="1">
                <a:solidFill>
                  <a:schemeClr val="tx1"/>
                </a:solidFill>
                <a:latin typeface="+mj-lt"/>
                <a:ea typeface="Cambria" panose="02040503050406030204" pitchFamily="18" charset="0"/>
                <a:cs typeface="Verdana"/>
                <a:sym typeface="Verdana"/>
              </a:rPr>
              <a:t>Dr.Sampath</a:t>
            </a:r>
            <a:r>
              <a:rPr lang="en-US" sz="1800" i="0" u="none" strike="noStrike" cap="none" dirty="0">
                <a:solidFill>
                  <a:schemeClr val="tx1"/>
                </a:solidFill>
                <a:latin typeface="+mj-lt"/>
                <a:ea typeface="Cambria" panose="02040503050406030204" pitchFamily="18" charset="0"/>
                <a:cs typeface="Verdana"/>
                <a:sym typeface="Verdana"/>
              </a:rPr>
              <a:t> A K , Dr. Geetha A </a:t>
            </a:r>
            <a:endParaRPr sz="1800" i="0" u="none" strike="noStrike" cap="none" dirty="0">
              <a:solidFill>
                <a:schemeClr val="tx1"/>
              </a:solidFill>
              <a:latin typeface="+mj-lt"/>
              <a:ea typeface="Cambria" panose="02040503050406030204" pitchFamily="18" charset="0"/>
              <a:cs typeface="Verdana"/>
              <a:sym typeface="Verdana"/>
            </a:endParaRPr>
          </a:p>
        </p:txBody>
      </p:sp>
      <p:graphicFrame>
        <p:nvGraphicFramePr>
          <p:cNvPr id="5" name="Table 4">
            <a:extLst>
              <a:ext uri="{FF2B5EF4-FFF2-40B4-BE49-F238E27FC236}">
                <a16:creationId xmlns:a16="http://schemas.microsoft.com/office/drawing/2014/main" id="{AF0D9EFE-1851-B473-BF97-2EF872E56FD8}"/>
              </a:ext>
            </a:extLst>
          </p:cNvPr>
          <p:cNvGraphicFramePr>
            <a:graphicFrameLocks noGrp="1"/>
          </p:cNvGraphicFramePr>
          <p:nvPr>
            <p:extLst>
              <p:ext uri="{D42A27DB-BD31-4B8C-83A1-F6EECF244321}">
                <p14:modId xmlns:p14="http://schemas.microsoft.com/office/powerpoint/2010/main" val="1606949484"/>
              </p:ext>
            </p:extLst>
          </p:nvPr>
        </p:nvGraphicFramePr>
        <p:xfrm>
          <a:off x="197506" y="2423592"/>
          <a:ext cx="5418674" cy="1483360"/>
        </p:xfrm>
        <a:graphic>
          <a:graphicData uri="http://schemas.openxmlformats.org/drawingml/2006/table">
            <a:tbl>
              <a:tblPr firstRow="1" bandRow="1"/>
              <a:tblGrid>
                <a:gridCol w="2709337">
                  <a:extLst>
                    <a:ext uri="{9D8B030D-6E8A-4147-A177-3AD203B41FA5}">
                      <a16:colId xmlns:a16="http://schemas.microsoft.com/office/drawing/2014/main" val="1175655910"/>
                    </a:ext>
                  </a:extLst>
                </a:gridCol>
                <a:gridCol w="2709337">
                  <a:extLst>
                    <a:ext uri="{9D8B030D-6E8A-4147-A177-3AD203B41FA5}">
                      <a16:colId xmlns:a16="http://schemas.microsoft.com/office/drawing/2014/main" val="281558044"/>
                    </a:ext>
                  </a:extLst>
                </a:gridCol>
              </a:tblGrid>
              <a:tr h="370840">
                <a:tc>
                  <a:txBody>
                    <a:bodyPr/>
                    <a:lstStyle/>
                    <a:p>
                      <a:endParaRPr lang="en-IN"/>
                    </a:p>
                  </a:txBody>
                  <a:tcPr/>
                </a:tc>
                <a:tc>
                  <a:txBody>
                    <a:bodyPr/>
                    <a:lstStyle/>
                    <a:p>
                      <a:r>
                        <a:rPr lang="en-IN" dirty="0"/>
                        <a:t>          </a:t>
                      </a:r>
                    </a:p>
                  </a:txBody>
                  <a:tcPr/>
                </a:tc>
                <a:extLst>
                  <a:ext uri="{0D108BD9-81ED-4DB2-BD59-A6C34878D82A}">
                    <a16:rowId xmlns:a16="http://schemas.microsoft.com/office/drawing/2014/main" val="585445812"/>
                  </a:ext>
                </a:extLst>
              </a:tr>
              <a:tr h="370840">
                <a:tc>
                  <a:txBody>
                    <a:bodyPr/>
                    <a:lstStyle/>
                    <a:p>
                      <a:pPr algn="ctr"/>
                      <a:r>
                        <a:rPr lang="en-IN" dirty="0"/>
                        <a:t>20221CSE0234</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t>Syed Thousif</a:t>
                      </a:r>
                    </a:p>
                  </a:txBody>
                  <a:tcPr/>
                </a:tc>
                <a:extLst>
                  <a:ext uri="{0D108BD9-81ED-4DB2-BD59-A6C34878D82A}">
                    <a16:rowId xmlns:a16="http://schemas.microsoft.com/office/drawing/2014/main" val="2093631946"/>
                  </a:ext>
                </a:extLst>
              </a:tr>
              <a:tr h="370840">
                <a:tc>
                  <a:txBody>
                    <a:bodyPr/>
                    <a:lstStyle/>
                    <a:p>
                      <a:pPr algn="ctr"/>
                      <a:r>
                        <a:rPr lang="en-IN" dirty="0"/>
                        <a:t>20221CSE0213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t>Patil Jashwanth Reddy</a:t>
                      </a:r>
                    </a:p>
                  </a:txBody>
                  <a:tcPr/>
                </a:tc>
                <a:extLst>
                  <a:ext uri="{0D108BD9-81ED-4DB2-BD59-A6C34878D82A}">
                    <a16:rowId xmlns:a16="http://schemas.microsoft.com/office/drawing/2014/main" val="988153474"/>
                  </a:ext>
                </a:extLst>
              </a:tr>
              <a:tr h="370840">
                <a:tc>
                  <a:txBody>
                    <a:bodyPr/>
                    <a:lstStyle/>
                    <a:p>
                      <a:pPr algn="ctr"/>
                      <a:r>
                        <a:rPr lang="en-IN" dirty="0"/>
                        <a:t>20221CSE0211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Kambam</a:t>
                      </a:r>
                      <a:r>
                        <a:rPr lang="en-IN" dirty="0"/>
                        <a:t> Nithin Kumar Reddy</a:t>
                      </a:r>
                    </a:p>
                  </a:txBody>
                  <a:tcPr/>
                </a:tc>
                <a:extLst>
                  <a:ext uri="{0D108BD9-81ED-4DB2-BD59-A6C34878D82A}">
                    <a16:rowId xmlns:a16="http://schemas.microsoft.com/office/drawing/2014/main" val="1530307058"/>
                  </a:ext>
                </a:extLst>
              </a:tr>
            </a:tbl>
          </a:graphicData>
        </a:graphic>
      </p:graphicFrame>
      <p:sp>
        <p:nvSpPr>
          <p:cNvPr id="2" name="Rectangle 1">
            <a:extLst>
              <a:ext uri="{FF2B5EF4-FFF2-40B4-BE49-F238E27FC236}">
                <a16:creationId xmlns:a16="http://schemas.microsoft.com/office/drawing/2014/main" id="{6D9EB74C-1FA1-AAFD-9D49-71B0643C2690}"/>
              </a:ext>
            </a:extLst>
          </p:cNvPr>
          <p:cNvSpPr/>
          <p:nvPr/>
        </p:nvSpPr>
        <p:spPr>
          <a:xfrm>
            <a:off x="7507223" y="2235290"/>
            <a:ext cx="4391131" cy="23829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 PSCS_46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0000" lnSpcReduction="20000"/>
          </a:bodyPr>
          <a:lstStyle/>
          <a:p>
            <a:pPr marL="342900" lvl="0" indent="-190500" algn="just">
              <a:spcBef>
                <a:spcPts val="0"/>
              </a:spcBef>
              <a:buNone/>
            </a:pPr>
            <a:r>
              <a:rPr lang="en-US" sz="4000" dirty="0">
                <a:latin typeface="Cambria" panose="02040503050406030204" pitchFamily="18" charset="0"/>
                <a:ea typeface="Cambria" panose="02040503050406030204" pitchFamily="18" charset="0"/>
              </a:rPr>
              <a:t>Organization: Ministry Of AYUSH</a:t>
            </a:r>
          </a:p>
          <a:p>
            <a:pPr marL="342900" lvl="0" indent="-190500" algn="just">
              <a:lnSpc>
                <a:spcPct val="200000"/>
              </a:lnSpc>
              <a:spcBef>
                <a:spcPts val="0"/>
              </a:spcBef>
              <a:buNone/>
            </a:pPr>
            <a:r>
              <a:rPr lang="en-US" sz="4000"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sz="4000" dirty="0">
                <a:latin typeface="Cambria" panose="02040503050406030204" pitchFamily="18" charset="0"/>
                <a:ea typeface="Cambria" panose="02040503050406030204" pitchFamily="18" charset="0"/>
              </a:rPr>
              <a:t>Problem Description : </a:t>
            </a:r>
            <a:r>
              <a:rPr lang="en-US" sz="4500" dirty="0">
                <a:latin typeface="Bernard MT Condensed" panose="02050806060905020404" pitchFamily="18" charset="0"/>
                <a:ea typeface="Cambria" panose="02040503050406030204" pitchFamily="18" charset="0"/>
              </a:rPr>
              <a:t>T</a:t>
            </a:r>
            <a:r>
              <a:rPr lang="en-US" sz="2900" dirty="0"/>
              <a:t>he medical students aiming to be good physicians, need to select a standard medical textbook. It is evident that there are several books made available in ASU (Ayurveda, Unani, Siddha) medical systems and every book claims that the book has been written as per CCIM or NCISM syllabus. Amongst some are good and some are of poor quality and were written with vested interest. Due to this, students are trapped by substandard books that leads to poor quality standard among students. Identifying this issue and its impact on medical on the medical system, NCISM constituted an expert committee for the development of an assessment scale for textbooks/ reference books. The expert committee after thorough deliberations developed the assessment scale for the quality assessment of textbooks/ reference books. This assessment scale serves the purpose of:- Selection of quality textbooks by teachers for their students. Serving as a reference for textbook writers. Providing criteria to recommend for inclusion in the list of recommended apex/ regulatory bodies. The assessment process requires a review of the books by reviewers (subject-wise reviewers located across the country, 3 reviewers per book) and summarizing the reviewer's remarks and decision by the committee. The development of an application on this will help to get reviews from people around the world online and also will help to summarize all the reviewed data in a faster mode.</a:t>
            </a:r>
            <a:r>
              <a:rPr lang="en-US" sz="29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950976"/>
            <a:ext cx="10668000" cy="4892039"/>
          </a:xfrm>
          <a:prstGeom prst="rect">
            <a:avLst/>
          </a:prstGeom>
          <a:noFill/>
          <a:ln>
            <a:noFill/>
          </a:ln>
        </p:spPr>
        <p:txBody>
          <a:bodyPr spcFirstLastPara="1" wrap="square" lIns="91425" tIns="45700" rIns="91425" bIns="45700" anchor="t" anchorCtr="0">
            <a:normAutofit fontScale="85000" lnSpcReduction="10000"/>
          </a:bodyPr>
          <a:lstStyle/>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Drawbacks /Existing Methods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q"/>
            </a:pPr>
            <a:r>
              <a:rPr lang="en-IN" dirty="0">
                <a:latin typeface="Calibri" panose="020F0502020204030204" pitchFamily="34" charset="0"/>
                <a:ea typeface="Calibri" panose="020F0502020204030204" pitchFamily="34" charset="0"/>
                <a:cs typeface="Calibri" panose="020F0502020204030204" pitchFamily="34" charset="0"/>
              </a:rPr>
              <a:t>Proposed Method &amp; Feasibility Study</a:t>
            </a:r>
          </a:p>
          <a:p>
            <a:pPr marL="495300" indent="-342900" algn="just">
              <a:lnSpc>
                <a:spcPct val="200000"/>
              </a:lnSpc>
              <a:spcBef>
                <a:spcPts val="0"/>
              </a:spcBef>
              <a:buFont typeface="Wingdings" panose="05000000000000000000" pitchFamily="2" charset="2"/>
              <a:buChar char="q"/>
            </a:pPr>
            <a:r>
              <a:rPr lang="en-US" dirty="0">
                <a:latin typeface="Calibri" panose="020F0502020204030204" pitchFamily="34" charset="0"/>
                <a:ea typeface="Calibri" panose="020F0502020204030204" pitchFamily="34" charset="0"/>
                <a:cs typeface="Calibri" panose="020F0502020204030204" pitchFamily="34" charset="0"/>
              </a:rPr>
              <a:t>Architecture Diagram</a:t>
            </a:r>
          </a:p>
          <a:p>
            <a:pPr marL="495300" indent="-342900" algn="just">
              <a:lnSpc>
                <a:spcPct val="200000"/>
              </a:lnSpc>
              <a:spcBef>
                <a:spcPts val="0"/>
              </a:spcBef>
              <a:buFont typeface="Wingdings" panose="05000000000000000000" pitchFamily="2" charset="2"/>
              <a:buChar char="q"/>
            </a:pPr>
            <a:r>
              <a:rPr lang="en-IN" dirty="0">
                <a:latin typeface="Calibri" panose="020F0502020204030204" pitchFamily="34" charset="0"/>
                <a:ea typeface="Calibri" panose="020F0502020204030204" pitchFamily="34" charset="0"/>
                <a:cs typeface="Calibri" panose="020F0502020204030204" pitchFamily="34" charset="0"/>
              </a:rPr>
              <a:t>Modules</a:t>
            </a:r>
            <a:endParaRPr lang="en-US" dirty="0">
              <a:latin typeface="Calibri" panose="020F0502020204030204" pitchFamily="34" charset="0"/>
              <a:ea typeface="Calibri" panose="020F0502020204030204" pitchFamily="34" charset="0"/>
              <a:cs typeface="Calibri" panose="020F0502020204030204" pitchFamily="3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q"/>
            </a:pPr>
            <a:r>
              <a:rPr lang="en-US" dirty="0">
                <a:latin typeface="Cambria" panose="02040503050406030204" pitchFamily="18" charset="0"/>
                <a:ea typeface="Cambria" panose="02040503050406030204" pitchFamily="18" charset="0"/>
              </a:rPr>
              <a:t>Hardware &amp; Software Details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q"/>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51560"/>
            <a:ext cx="10668000" cy="4892039"/>
          </a:xfrm>
          <a:prstGeom prst="rect">
            <a:avLst/>
          </a:prstGeom>
          <a:noFill/>
          <a:ln>
            <a:noFill/>
          </a:ln>
        </p:spPr>
        <p:txBody>
          <a:bodyPr spcFirstLastPara="1" wrap="square" lIns="91425" tIns="45700" rIns="91425" bIns="45700" anchor="t" anchorCtr="0">
            <a:normAutofit/>
          </a:bodyPr>
          <a:lstStyle/>
          <a:p>
            <a:pPr marL="76200" indent="0">
              <a:buNone/>
            </a:pPr>
            <a:r>
              <a:rPr lang="en-US" sz="2900" dirty="0">
                <a:latin typeface="Blackadder ITC" panose="04020505051007020D02" pitchFamily="82" charset="0"/>
                <a:ea typeface="Calibri" panose="020F0502020204030204" pitchFamily="34" charset="0"/>
                <a:cs typeface="Calibri" panose="020F0502020204030204" pitchFamily="34" charset="0"/>
              </a:rPr>
              <a:t>O</a:t>
            </a:r>
            <a:r>
              <a:rPr lang="en-US" sz="2600" dirty="0">
                <a:latin typeface="Calibri" panose="020F0502020204030204" pitchFamily="34" charset="0"/>
                <a:ea typeface="Calibri" panose="020F0502020204030204" pitchFamily="34" charset="0"/>
                <a:cs typeface="Calibri" panose="020F0502020204030204" pitchFamily="34" charset="0"/>
              </a:rPr>
              <a:t>ur project focuses on creating an online platform to evaluate and ensure the quality of textbooks and e-books before they are published. Its primary goal is to verify that every textbook meets a defined minimum standard before entering the market. The system allows authors to submit their work for review, where it is assessed by experts based on factors such as accuracy, relevance, and readability. By implementing this pre-publication review process, the platform helps prevent low-quality or outdated books from reaching students and educators. This ensures that only reliable and well-structured learning materials are published, ultimately improving educational outcomes and promoting higher standards in academic publishing.</a:t>
            </a:r>
            <a:endParaRPr lang="en-US" sz="26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B50C5-98A3-8FB5-9891-B81D6CB78DAF}"/>
              </a:ext>
            </a:extLst>
          </p:cNvPr>
          <p:cNvSpPr>
            <a:spLocks noGrp="1"/>
          </p:cNvSpPr>
          <p:nvPr>
            <p:ph type="title"/>
          </p:nvPr>
        </p:nvSpPr>
        <p:spPr/>
        <p:txBody>
          <a:bodyPr/>
          <a:lstStyle/>
          <a:p>
            <a:r>
              <a:rPr lang="en-IN" dirty="0"/>
              <a:t>Literature Survey</a:t>
            </a:r>
          </a:p>
        </p:txBody>
      </p:sp>
      <p:graphicFrame>
        <p:nvGraphicFramePr>
          <p:cNvPr id="4" name="Table 3">
            <a:extLst>
              <a:ext uri="{FF2B5EF4-FFF2-40B4-BE49-F238E27FC236}">
                <a16:creationId xmlns:a16="http://schemas.microsoft.com/office/drawing/2014/main" id="{0D6BDED8-182D-86D4-AEC0-9942DFF4A523}"/>
              </a:ext>
            </a:extLst>
          </p:cNvPr>
          <p:cNvGraphicFramePr>
            <a:graphicFrameLocks noGrp="1"/>
          </p:cNvGraphicFramePr>
          <p:nvPr>
            <p:extLst>
              <p:ext uri="{D42A27DB-BD31-4B8C-83A1-F6EECF244321}">
                <p14:modId xmlns:p14="http://schemas.microsoft.com/office/powerpoint/2010/main" val="1502592542"/>
              </p:ext>
            </p:extLst>
          </p:nvPr>
        </p:nvGraphicFramePr>
        <p:xfrm>
          <a:off x="2040466" y="1136720"/>
          <a:ext cx="8111068" cy="4584560"/>
        </p:xfrm>
        <a:graphic>
          <a:graphicData uri="http://schemas.openxmlformats.org/drawingml/2006/table">
            <a:tbl>
              <a:tblPr>
                <a:tableStyleId>{35758FB7-9AC5-4552-8A53-C91805E547FA}</a:tableStyleId>
              </a:tblPr>
              <a:tblGrid>
                <a:gridCol w="2027767">
                  <a:extLst>
                    <a:ext uri="{9D8B030D-6E8A-4147-A177-3AD203B41FA5}">
                      <a16:colId xmlns:a16="http://schemas.microsoft.com/office/drawing/2014/main" val="3903207432"/>
                    </a:ext>
                  </a:extLst>
                </a:gridCol>
                <a:gridCol w="2027767">
                  <a:extLst>
                    <a:ext uri="{9D8B030D-6E8A-4147-A177-3AD203B41FA5}">
                      <a16:colId xmlns:a16="http://schemas.microsoft.com/office/drawing/2014/main" val="1984455244"/>
                    </a:ext>
                  </a:extLst>
                </a:gridCol>
                <a:gridCol w="2027767">
                  <a:extLst>
                    <a:ext uri="{9D8B030D-6E8A-4147-A177-3AD203B41FA5}">
                      <a16:colId xmlns:a16="http://schemas.microsoft.com/office/drawing/2014/main" val="3835121411"/>
                    </a:ext>
                  </a:extLst>
                </a:gridCol>
                <a:gridCol w="2027767">
                  <a:extLst>
                    <a:ext uri="{9D8B030D-6E8A-4147-A177-3AD203B41FA5}">
                      <a16:colId xmlns:a16="http://schemas.microsoft.com/office/drawing/2014/main" val="3021496672"/>
                    </a:ext>
                  </a:extLst>
                </a:gridCol>
              </a:tblGrid>
              <a:tr h="0">
                <a:tc>
                  <a:txBody>
                    <a:bodyPr/>
                    <a:lstStyle/>
                    <a:p>
                      <a:pPr>
                        <a:buNone/>
                      </a:pPr>
                      <a:r>
                        <a:rPr lang="en-IN" sz="800"/>
                        <a:t>Author(s) &amp; Year</a:t>
                      </a:r>
                    </a:p>
                  </a:txBody>
                  <a:tcPr marL="54230" marR="54230" marT="27115" marB="27115" anchor="ctr"/>
                </a:tc>
                <a:tc>
                  <a:txBody>
                    <a:bodyPr/>
                    <a:lstStyle/>
                    <a:p>
                      <a:pPr>
                        <a:buNone/>
                      </a:pPr>
                      <a:r>
                        <a:rPr lang="en-IN" sz="800"/>
                        <a:t>Title</a:t>
                      </a:r>
                    </a:p>
                  </a:txBody>
                  <a:tcPr marL="54230" marR="54230" marT="27115" marB="27115" anchor="ctr"/>
                </a:tc>
                <a:tc>
                  <a:txBody>
                    <a:bodyPr/>
                    <a:lstStyle/>
                    <a:p>
                      <a:pPr>
                        <a:buNone/>
                      </a:pPr>
                      <a:r>
                        <a:rPr lang="en-IN" sz="800"/>
                        <a:t>Methodology / Framework</a:t>
                      </a:r>
                    </a:p>
                  </a:txBody>
                  <a:tcPr marL="54230" marR="54230" marT="27115" marB="27115" anchor="ctr"/>
                </a:tc>
                <a:tc>
                  <a:txBody>
                    <a:bodyPr/>
                    <a:lstStyle/>
                    <a:p>
                      <a:pPr>
                        <a:buNone/>
                      </a:pPr>
                      <a:r>
                        <a:rPr lang="en-IN" sz="800"/>
                        <a:t>Limitations / Gaps</a:t>
                      </a:r>
                    </a:p>
                  </a:txBody>
                  <a:tcPr marL="54230" marR="54230" marT="27115" marB="27115" anchor="ctr"/>
                </a:tc>
                <a:extLst>
                  <a:ext uri="{0D108BD9-81ED-4DB2-BD59-A6C34878D82A}">
                    <a16:rowId xmlns:a16="http://schemas.microsoft.com/office/drawing/2014/main" val="3568314437"/>
                  </a:ext>
                </a:extLst>
              </a:tr>
              <a:tr h="1012047">
                <a:tc>
                  <a:txBody>
                    <a:bodyPr/>
                    <a:lstStyle/>
                    <a:p>
                      <a:pPr>
                        <a:buNone/>
                      </a:pPr>
                      <a:r>
                        <a:rPr lang="nl-NL" sz="800" b="1"/>
                        <a:t>Dr. Ambika L G S et al. (2024)</a:t>
                      </a:r>
                      <a:endParaRPr lang="nl-NL" sz="800"/>
                    </a:p>
                  </a:txBody>
                  <a:tcPr marL="54230" marR="54230" marT="27115" marB="27115" anchor="ctr"/>
                </a:tc>
                <a:tc>
                  <a:txBody>
                    <a:bodyPr/>
                    <a:lstStyle/>
                    <a:p>
                      <a:pPr>
                        <a:buNone/>
                      </a:pPr>
                      <a:r>
                        <a:rPr lang="en-US" sz="800"/>
                        <a:t>Quality Textbook Assessment System (QTAS)</a:t>
                      </a:r>
                    </a:p>
                  </a:txBody>
                  <a:tcPr marL="54230" marR="54230" marT="27115" marB="27115" anchor="ctr"/>
                </a:tc>
                <a:tc>
                  <a:txBody>
                    <a:bodyPr/>
                    <a:lstStyle/>
                    <a:p>
                      <a:pPr>
                        <a:buNone/>
                      </a:pPr>
                      <a:r>
                        <a:rPr lang="en-US" sz="800"/>
                        <a:t>Used </a:t>
                      </a:r>
                      <a:r>
                        <a:rPr lang="en-US" sz="800" b="1"/>
                        <a:t>Random Forest ML algorithm</a:t>
                      </a:r>
                      <a:r>
                        <a:rPr lang="en-US" sz="800"/>
                        <a:t> with book reviews dataset (Kaggle). Preprocessing with TF-IDF, trained with 80/20 split.</a:t>
                      </a:r>
                    </a:p>
                  </a:txBody>
                  <a:tcPr marL="54230" marR="54230" marT="27115" marB="27115" anchor="ctr"/>
                </a:tc>
                <a:tc>
                  <a:txBody>
                    <a:bodyPr/>
                    <a:lstStyle/>
                    <a:p>
                      <a:pPr>
                        <a:buNone/>
                      </a:pPr>
                      <a:r>
                        <a:rPr lang="en-US" sz="800" dirty="0"/>
                        <a:t>Focused mainly on reviews; limited integration with structured rubrics and subject standards.</a:t>
                      </a:r>
                    </a:p>
                  </a:txBody>
                  <a:tcPr marL="54230" marR="54230" marT="27115" marB="27115" anchor="ctr"/>
                </a:tc>
                <a:extLst>
                  <a:ext uri="{0D108BD9-81ED-4DB2-BD59-A6C34878D82A}">
                    <a16:rowId xmlns:a16="http://schemas.microsoft.com/office/drawing/2014/main" val="209974624"/>
                  </a:ext>
                </a:extLst>
              </a:tr>
              <a:tr h="1132121">
                <a:tc>
                  <a:txBody>
                    <a:bodyPr/>
                    <a:lstStyle/>
                    <a:p>
                      <a:pPr>
                        <a:buNone/>
                      </a:pPr>
                      <a:r>
                        <a:rPr lang="en-IN" sz="800" b="1"/>
                        <a:t>Liu Gang (2024)</a:t>
                      </a:r>
                      <a:endParaRPr lang="en-IN" sz="800"/>
                    </a:p>
                  </a:txBody>
                  <a:tcPr marL="54230" marR="54230" marT="27115" marB="27115" anchor="ctr"/>
                </a:tc>
                <a:tc>
                  <a:txBody>
                    <a:bodyPr/>
                    <a:lstStyle/>
                    <a:p>
                      <a:pPr>
                        <a:buNone/>
                      </a:pPr>
                      <a:r>
                        <a:rPr lang="en-US" sz="800"/>
                        <a:t>Research on the Quality Evaluation Method of College Textbooks</a:t>
                      </a:r>
                    </a:p>
                  </a:txBody>
                  <a:tcPr marL="54230" marR="54230" marT="27115" marB="27115" anchor="ctr"/>
                </a:tc>
                <a:tc>
                  <a:txBody>
                    <a:bodyPr/>
                    <a:lstStyle/>
                    <a:p>
                      <a:pPr>
                        <a:buNone/>
                      </a:pPr>
                      <a:r>
                        <a:rPr lang="en-US" sz="800" dirty="0"/>
                        <a:t>Developed a </a:t>
                      </a:r>
                      <a:r>
                        <a:rPr lang="en-US" sz="800" b="1" dirty="0"/>
                        <a:t>multi-level evaluation index system</a:t>
                      </a:r>
                      <a:r>
                        <a:rPr lang="en-US" sz="800" dirty="0"/>
                        <a:t> including content quality, ideological value, applicability, publishing quality. Data collected via </a:t>
                      </a:r>
                      <a:r>
                        <a:rPr lang="en-US" sz="800" b="1" dirty="0"/>
                        <a:t>surveys of teachers &amp; students</a:t>
                      </a:r>
                      <a:r>
                        <a:rPr lang="en-US" sz="800" dirty="0"/>
                        <a:t>.</a:t>
                      </a:r>
                    </a:p>
                  </a:txBody>
                  <a:tcPr marL="54230" marR="54230" marT="27115" marB="27115" anchor="ctr"/>
                </a:tc>
                <a:tc>
                  <a:txBody>
                    <a:bodyPr/>
                    <a:lstStyle/>
                    <a:p>
                      <a:pPr>
                        <a:buNone/>
                      </a:pPr>
                      <a:r>
                        <a:rPr lang="en-US" sz="800" dirty="0"/>
                        <a:t>Relies heavily on subjective surveys; lacks AI-based automation and cross-validation.</a:t>
                      </a:r>
                    </a:p>
                  </a:txBody>
                  <a:tcPr marL="54230" marR="54230" marT="27115" marB="27115" anchor="ctr"/>
                </a:tc>
                <a:extLst>
                  <a:ext uri="{0D108BD9-81ED-4DB2-BD59-A6C34878D82A}">
                    <a16:rowId xmlns:a16="http://schemas.microsoft.com/office/drawing/2014/main" val="1014380276"/>
                  </a:ext>
                </a:extLst>
              </a:tr>
              <a:tr h="1132121">
                <a:tc>
                  <a:txBody>
                    <a:bodyPr/>
                    <a:lstStyle/>
                    <a:p>
                      <a:pPr>
                        <a:buNone/>
                      </a:pPr>
                      <a:r>
                        <a:rPr lang="es-ES" sz="800" b="1"/>
                        <a:t>Yambi, T. A. C. (2020)</a:t>
                      </a:r>
                      <a:endParaRPr lang="es-ES" sz="800"/>
                    </a:p>
                  </a:txBody>
                  <a:tcPr marL="54230" marR="54230" marT="27115" marB="27115" anchor="ctr"/>
                </a:tc>
                <a:tc>
                  <a:txBody>
                    <a:bodyPr/>
                    <a:lstStyle/>
                    <a:p>
                      <a:pPr>
                        <a:buNone/>
                      </a:pPr>
                      <a:r>
                        <a:rPr lang="en-US" sz="800"/>
                        <a:t>Assessment and Evaluation in Education</a:t>
                      </a:r>
                    </a:p>
                  </a:txBody>
                  <a:tcPr marL="54230" marR="54230" marT="27115" marB="27115" anchor="ctr"/>
                </a:tc>
                <a:tc>
                  <a:txBody>
                    <a:bodyPr/>
                    <a:lstStyle/>
                    <a:p>
                      <a:pPr>
                        <a:buNone/>
                      </a:pPr>
                      <a:r>
                        <a:rPr lang="en-US" sz="800" dirty="0"/>
                        <a:t>Conceptual distinction: </a:t>
                      </a:r>
                      <a:r>
                        <a:rPr lang="en-US" sz="800" b="1" dirty="0"/>
                        <a:t>Assessment (formative, process-oriented)</a:t>
                      </a:r>
                      <a:r>
                        <a:rPr lang="en-US" sz="800" dirty="0"/>
                        <a:t> vs. </a:t>
                      </a:r>
                      <a:r>
                        <a:rPr lang="en-US" sz="800" b="1" dirty="0"/>
                        <a:t>Evaluation (summative, outcome-based)</a:t>
                      </a:r>
                      <a:r>
                        <a:rPr lang="en-US" sz="800" dirty="0"/>
                        <a:t>. Reviewed principles of reliability, validity, objectivity.</a:t>
                      </a:r>
                    </a:p>
                  </a:txBody>
                  <a:tcPr marL="54230" marR="54230" marT="27115" marB="27115" anchor="ctr"/>
                </a:tc>
                <a:tc>
                  <a:txBody>
                    <a:bodyPr/>
                    <a:lstStyle/>
                    <a:p>
                      <a:pPr>
                        <a:buNone/>
                      </a:pPr>
                      <a:r>
                        <a:rPr lang="en-US" sz="800" dirty="0"/>
                        <a:t>Did not propose a concrete framework for textbooks specifically.</a:t>
                      </a:r>
                    </a:p>
                  </a:txBody>
                  <a:tcPr marL="54230" marR="54230" marT="27115" marB="27115" anchor="ctr"/>
                </a:tc>
                <a:extLst>
                  <a:ext uri="{0D108BD9-81ED-4DB2-BD59-A6C34878D82A}">
                    <a16:rowId xmlns:a16="http://schemas.microsoft.com/office/drawing/2014/main" val="2908993096"/>
                  </a:ext>
                </a:extLst>
              </a:tr>
              <a:tr h="1132121">
                <a:tc>
                  <a:txBody>
                    <a:bodyPr/>
                    <a:lstStyle/>
                    <a:p>
                      <a:pPr>
                        <a:buNone/>
                      </a:pPr>
                      <a:r>
                        <a:rPr lang="en-IN" sz="800" b="1" dirty="0"/>
                        <a:t>NCISM (2023)</a:t>
                      </a:r>
                      <a:endParaRPr lang="en-IN" sz="800" dirty="0"/>
                    </a:p>
                  </a:txBody>
                  <a:tcPr marL="54230" marR="54230" marT="27115" marB="27115" anchor="ctr"/>
                </a:tc>
                <a:tc>
                  <a:txBody>
                    <a:bodyPr/>
                    <a:lstStyle/>
                    <a:p>
                      <a:pPr>
                        <a:buNone/>
                      </a:pPr>
                      <a:r>
                        <a:rPr lang="en-US" sz="800"/>
                        <a:t>Textbook Quality Assessment Scale (Medical Texts)</a:t>
                      </a:r>
                    </a:p>
                  </a:txBody>
                  <a:tcPr marL="54230" marR="54230" marT="27115" marB="27115" anchor="ctr"/>
                </a:tc>
                <a:tc>
                  <a:txBody>
                    <a:bodyPr/>
                    <a:lstStyle/>
                    <a:p>
                      <a:pPr>
                        <a:buNone/>
                      </a:pPr>
                      <a:r>
                        <a:rPr lang="en-US" sz="800"/>
                        <a:t>Rubric-based evaluation: </a:t>
                      </a:r>
                      <a:r>
                        <a:rPr lang="en-US" sz="800" b="1"/>
                        <a:t>Author credibility, publisher credibility, subject matter, physical structure, illustrations, language</a:t>
                      </a:r>
                      <a:r>
                        <a:rPr lang="en-US" sz="800"/>
                        <a:t>. Scoring out of 352 with thresholds for Grade I/II.</a:t>
                      </a:r>
                    </a:p>
                  </a:txBody>
                  <a:tcPr marL="54230" marR="54230" marT="27115" marB="27115" anchor="ctr"/>
                </a:tc>
                <a:tc>
                  <a:txBody>
                    <a:bodyPr/>
                    <a:lstStyle/>
                    <a:p>
                      <a:pPr>
                        <a:buNone/>
                      </a:pPr>
                      <a:r>
                        <a:rPr lang="en-US" sz="800" dirty="0"/>
                        <a:t>Focused on medical textbooks; lacks adaptability across general education fields.</a:t>
                      </a:r>
                    </a:p>
                  </a:txBody>
                  <a:tcPr marL="54230" marR="54230" marT="27115" marB="27115" anchor="ctr"/>
                </a:tc>
                <a:extLst>
                  <a:ext uri="{0D108BD9-81ED-4DB2-BD59-A6C34878D82A}">
                    <a16:rowId xmlns:a16="http://schemas.microsoft.com/office/drawing/2014/main" val="240183865"/>
                  </a:ext>
                </a:extLst>
              </a:tr>
            </a:tbl>
          </a:graphicData>
        </a:graphic>
      </p:graphicFrame>
    </p:spTree>
    <p:extLst>
      <p:ext uri="{BB962C8B-B14F-4D97-AF65-F5344CB8AC3E}">
        <p14:creationId xmlns:p14="http://schemas.microsoft.com/office/powerpoint/2010/main" val="419463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sz="2900" dirty="0">
                <a:latin typeface="Cambria" panose="02040503050406030204" pitchFamily="18" charset="0"/>
                <a:ea typeface="Cambria" panose="02040503050406030204" pitchFamily="18" charset="0"/>
              </a:rPr>
              <a:t>Objectives</a:t>
            </a:r>
          </a:p>
        </p:txBody>
      </p:sp>
      <p:sp>
        <p:nvSpPr>
          <p:cNvPr id="6" name="Rectangle 5">
            <a:extLst>
              <a:ext uri="{FF2B5EF4-FFF2-40B4-BE49-F238E27FC236}">
                <a16:creationId xmlns:a16="http://schemas.microsoft.com/office/drawing/2014/main" id="{162BBBFB-5B46-1600-7233-2AD211399180}"/>
              </a:ext>
            </a:extLst>
          </p:cNvPr>
          <p:cNvSpPr>
            <a:spLocks noChangeArrowheads="1"/>
          </p:cNvSpPr>
          <p:nvPr/>
        </p:nvSpPr>
        <p:spPr bwMode="auto">
          <a:xfrm>
            <a:off x="651933" y="696364"/>
            <a:ext cx="11446934"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3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300" b="0" i="0" u="none" strike="noStrike" cap="none" normalizeH="0" baseline="0" dirty="0">
                <a:ln>
                  <a:noFill/>
                </a:ln>
                <a:solidFill>
                  <a:schemeClr val="tx1"/>
                </a:solidFill>
                <a:effectLst/>
                <a:latin typeface="Arial" panose="020B0604020202020204" pitchFamily="34" charset="0"/>
              </a:rPr>
              <a:t>To design an online platform where textbooks and e-books can be reviewed before publishing.</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300" b="0" i="0" u="none" strike="noStrike" cap="none" normalizeH="0" baseline="0" dirty="0">
                <a:ln>
                  <a:noFill/>
                </a:ln>
                <a:solidFill>
                  <a:schemeClr val="tx1"/>
                </a:solidFill>
                <a:effectLst/>
                <a:latin typeface="Arial" panose="020B0604020202020204" pitchFamily="34" charset="0"/>
              </a:rPr>
              <a:t>To make sure every book meets basic standards of </a:t>
            </a:r>
            <a:r>
              <a:rPr kumimoji="0" lang="en-US" altLang="en-US" sz="2300" b="1" i="0" u="none" strike="noStrike" cap="none" normalizeH="0" baseline="0" dirty="0">
                <a:ln>
                  <a:noFill/>
                </a:ln>
                <a:solidFill>
                  <a:schemeClr val="tx1"/>
                </a:solidFill>
                <a:effectLst/>
                <a:latin typeface="Arial" panose="020B0604020202020204" pitchFamily="34" charset="0"/>
              </a:rPr>
              <a:t>accuracy, clarity, and relevance</a:t>
            </a:r>
            <a:r>
              <a:rPr kumimoji="0" lang="en-US" altLang="en-US" sz="23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300" b="0" i="0" u="none" strike="noStrike" cap="none" normalizeH="0" baseline="0" dirty="0">
                <a:ln>
                  <a:noFill/>
                </a:ln>
                <a:solidFill>
                  <a:schemeClr val="tx1"/>
                </a:solidFill>
                <a:effectLst/>
                <a:latin typeface="Arial" panose="020B0604020202020204" pitchFamily="34" charset="0"/>
              </a:rPr>
              <a:t>To provide a space where </a:t>
            </a:r>
            <a:r>
              <a:rPr kumimoji="0" lang="en-US" altLang="en-US" sz="2300" b="1" i="0" u="none" strike="noStrike" cap="none" normalizeH="0" baseline="0" dirty="0">
                <a:ln>
                  <a:noFill/>
                </a:ln>
                <a:solidFill>
                  <a:schemeClr val="tx1"/>
                </a:solidFill>
                <a:effectLst/>
                <a:latin typeface="Arial" panose="020B0604020202020204" pitchFamily="34" charset="0"/>
              </a:rPr>
              <a:t>experts can review and guide authors</a:t>
            </a:r>
            <a:r>
              <a:rPr kumimoji="0" lang="en-US" altLang="en-US" sz="2300" b="0" i="0" u="none" strike="noStrike" cap="none" normalizeH="0" baseline="0" dirty="0">
                <a:ln>
                  <a:noFill/>
                </a:ln>
                <a:solidFill>
                  <a:schemeClr val="tx1"/>
                </a:solidFill>
                <a:effectLst/>
                <a:latin typeface="Arial" panose="020B0604020202020204" pitchFamily="34" charset="0"/>
              </a:rPr>
              <a:t> in improving their work.</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300" b="0" i="0" u="none" strike="noStrike" cap="none" normalizeH="0" baseline="0" dirty="0">
                <a:ln>
                  <a:noFill/>
                </a:ln>
                <a:solidFill>
                  <a:schemeClr val="tx1"/>
                </a:solidFill>
                <a:effectLst/>
                <a:latin typeface="Arial" panose="020B0604020202020204" pitchFamily="34" charset="0"/>
              </a:rPr>
              <a:t>To reduce the chance of </a:t>
            </a:r>
            <a:r>
              <a:rPr kumimoji="0" lang="en-US" altLang="en-US" sz="2300" b="1" i="0" u="none" strike="noStrike" cap="none" normalizeH="0" baseline="0" dirty="0">
                <a:ln>
                  <a:noFill/>
                </a:ln>
                <a:solidFill>
                  <a:schemeClr val="tx1"/>
                </a:solidFill>
                <a:effectLst/>
                <a:latin typeface="Arial" panose="020B0604020202020204" pitchFamily="34" charset="0"/>
              </a:rPr>
              <a:t>poor-quality or outdated books</a:t>
            </a:r>
            <a:r>
              <a:rPr kumimoji="0" lang="en-US" altLang="en-US" sz="2300" b="0" i="0" u="none" strike="noStrike" cap="none" normalizeH="0" baseline="0" dirty="0">
                <a:ln>
                  <a:noFill/>
                </a:ln>
                <a:solidFill>
                  <a:schemeClr val="tx1"/>
                </a:solidFill>
                <a:effectLst/>
                <a:latin typeface="Arial" panose="020B0604020202020204" pitchFamily="34" charset="0"/>
              </a:rPr>
              <a:t> reaching students and teachers.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300" b="0" i="0" u="none" strike="noStrike" cap="none" normalizeH="0" baseline="0" dirty="0">
                <a:ln>
                  <a:noFill/>
                </a:ln>
                <a:solidFill>
                  <a:schemeClr val="tx1"/>
                </a:solidFill>
                <a:effectLst/>
                <a:latin typeface="Arial" panose="020B0604020202020204" pitchFamily="34" charset="0"/>
              </a:rPr>
              <a:t>To support better learning by ensuring only </a:t>
            </a:r>
            <a:r>
              <a:rPr kumimoji="0" lang="en-US" altLang="en-US" sz="2300" b="1" i="0" u="none" strike="noStrike" cap="none" normalizeH="0" baseline="0" dirty="0">
                <a:ln>
                  <a:noFill/>
                </a:ln>
                <a:solidFill>
                  <a:schemeClr val="tx1"/>
                </a:solidFill>
                <a:effectLst/>
                <a:latin typeface="Arial" panose="020B0604020202020204" pitchFamily="34" charset="0"/>
              </a:rPr>
              <a:t>well-structured and reliable materials</a:t>
            </a:r>
            <a:r>
              <a:rPr kumimoji="0" lang="en-US" altLang="en-US" sz="2300" b="0" i="0" u="none" strike="noStrike" cap="none" normalizeH="0" baseline="0" dirty="0">
                <a:ln>
                  <a:noFill/>
                </a:ln>
                <a:solidFill>
                  <a:schemeClr val="tx1"/>
                </a:solidFill>
                <a:effectLst/>
                <a:latin typeface="Arial" panose="020B0604020202020204" pitchFamily="34" charset="0"/>
              </a:rPr>
              <a:t> are published.</a:t>
            </a: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Drawbacks &amp; Overcome </a:t>
            </a:r>
            <a:endParaRPr lang="en-US" sz="3600"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09956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2999"/>
            <a:ext cx="10668000" cy="451273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285750" indent="-285750">
              <a:buFont typeface="Arial" panose="020B0604020202020204" pitchFamily="34" charset="0"/>
              <a:buChar char="•"/>
            </a:pPr>
            <a:endParaRPr lang="en-US" sz="2000" dirty="0"/>
          </a:p>
        </p:txBody>
      </p:sp>
      <p:graphicFrame>
        <p:nvGraphicFramePr>
          <p:cNvPr id="3" name="Table 2">
            <a:extLst>
              <a:ext uri="{FF2B5EF4-FFF2-40B4-BE49-F238E27FC236}">
                <a16:creationId xmlns:a16="http://schemas.microsoft.com/office/drawing/2014/main" id="{8E50EF49-5C00-A4D0-1150-D0842C9409F4}"/>
              </a:ext>
            </a:extLst>
          </p:cNvPr>
          <p:cNvGraphicFramePr>
            <a:graphicFrameLocks noGrp="1"/>
          </p:cNvGraphicFramePr>
          <p:nvPr>
            <p:extLst>
              <p:ext uri="{D42A27DB-BD31-4B8C-83A1-F6EECF244321}">
                <p14:modId xmlns:p14="http://schemas.microsoft.com/office/powerpoint/2010/main" val="1292390768"/>
              </p:ext>
            </p:extLst>
          </p:nvPr>
        </p:nvGraphicFramePr>
        <p:xfrm>
          <a:off x="1041400" y="1397002"/>
          <a:ext cx="10439400" cy="4099557"/>
        </p:xfrm>
        <a:graphic>
          <a:graphicData uri="http://schemas.openxmlformats.org/drawingml/2006/table">
            <a:tbl>
              <a:tblPr>
                <a:tableStyleId>{3C2FFA5D-87B4-456A-9821-1D502468CF0F}</a:tableStyleId>
              </a:tblPr>
              <a:tblGrid>
                <a:gridCol w="5219700">
                  <a:extLst>
                    <a:ext uri="{9D8B030D-6E8A-4147-A177-3AD203B41FA5}">
                      <a16:colId xmlns:a16="http://schemas.microsoft.com/office/drawing/2014/main" val="2039654699"/>
                    </a:ext>
                  </a:extLst>
                </a:gridCol>
                <a:gridCol w="5219700">
                  <a:extLst>
                    <a:ext uri="{9D8B030D-6E8A-4147-A177-3AD203B41FA5}">
                      <a16:colId xmlns:a16="http://schemas.microsoft.com/office/drawing/2014/main" val="2534386204"/>
                    </a:ext>
                  </a:extLst>
                </a:gridCol>
              </a:tblGrid>
              <a:tr h="431532">
                <a:tc>
                  <a:txBody>
                    <a:bodyPr/>
                    <a:lstStyle/>
                    <a:p>
                      <a:pPr>
                        <a:buNone/>
                      </a:pPr>
                      <a:r>
                        <a:rPr lang="en-IN" b="1" dirty="0"/>
                        <a:t>Drawbacks </a:t>
                      </a:r>
                      <a:endParaRPr lang="en-IN" dirty="0"/>
                    </a:p>
                  </a:txBody>
                  <a:tcPr anchor="ctr"/>
                </a:tc>
                <a:tc>
                  <a:txBody>
                    <a:bodyPr/>
                    <a:lstStyle/>
                    <a:p>
                      <a:pPr>
                        <a:buNone/>
                      </a:pPr>
                      <a:r>
                        <a:rPr lang="en-US" b="1" dirty="0"/>
                        <a:t>Ways to Improve </a:t>
                      </a:r>
                      <a:endParaRPr lang="en-US" dirty="0"/>
                    </a:p>
                  </a:txBody>
                  <a:tcPr anchor="ctr"/>
                </a:tc>
                <a:extLst>
                  <a:ext uri="{0D108BD9-81ED-4DB2-BD59-A6C34878D82A}">
                    <a16:rowId xmlns:a16="http://schemas.microsoft.com/office/drawing/2014/main" val="1740399122"/>
                  </a:ext>
                </a:extLst>
              </a:tr>
              <a:tr h="733605">
                <a:tc>
                  <a:txBody>
                    <a:bodyPr/>
                    <a:lstStyle/>
                    <a:p>
                      <a:pPr>
                        <a:buNone/>
                      </a:pPr>
                      <a:r>
                        <a:rPr lang="en-US"/>
                        <a:t>Relies too much on online reviews</a:t>
                      </a:r>
                    </a:p>
                  </a:txBody>
                  <a:tcPr anchor="ctr"/>
                </a:tc>
                <a:tc>
                  <a:txBody>
                    <a:bodyPr/>
                    <a:lstStyle/>
                    <a:p>
                      <a:pPr>
                        <a:buNone/>
                      </a:pPr>
                      <a:r>
                        <a:rPr lang="en-US"/>
                        <a:t>Take feedback directly from teachers and students who actually use the books.</a:t>
                      </a:r>
                    </a:p>
                  </a:txBody>
                  <a:tcPr anchor="ctr"/>
                </a:tc>
                <a:extLst>
                  <a:ext uri="{0D108BD9-81ED-4DB2-BD59-A6C34878D82A}">
                    <a16:rowId xmlns:a16="http://schemas.microsoft.com/office/drawing/2014/main" val="964792475"/>
                  </a:ext>
                </a:extLst>
              </a:tr>
              <a:tr h="733605">
                <a:tc>
                  <a:txBody>
                    <a:bodyPr/>
                    <a:lstStyle/>
                    <a:p>
                      <a:pPr>
                        <a:buNone/>
                      </a:pPr>
                      <a:r>
                        <a:rPr lang="en-US"/>
                        <a:t>Focuses more on star ratings than the real content</a:t>
                      </a:r>
                    </a:p>
                  </a:txBody>
                  <a:tcPr anchor="ctr"/>
                </a:tc>
                <a:tc>
                  <a:txBody>
                    <a:bodyPr/>
                    <a:lstStyle/>
                    <a:p>
                      <a:pPr>
                        <a:buNone/>
                      </a:pPr>
                      <a:r>
                        <a:rPr lang="en-US"/>
                        <a:t>Check how well the book matches the syllabus and whether the concepts are clear.</a:t>
                      </a:r>
                    </a:p>
                  </a:txBody>
                  <a:tcPr anchor="ctr"/>
                </a:tc>
                <a:extLst>
                  <a:ext uri="{0D108BD9-81ED-4DB2-BD59-A6C34878D82A}">
                    <a16:rowId xmlns:a16="http://schemas.microsoft.com/office/drawing/2014/main" val="1623140191"/>
                  </a:ext>
                </a:extLst>
              </a:tr>
              <a:tr h="733605">
                <a:tc>
                  <a:txBody>
                    <a:bodyPr/>
                    <a:lstStyle/>
                    <a:p>
                      <a:pPr>
                        <a:buNone/>
                      </a:pPr>
                      <a:r>
                        <a:rPr lang="en-US"/>
                        <a:t>Accuracy shown in results may not work everywhere</a:t>
                      </a:r>
                    </a:p>
                  </a:txBody>
                  <a:tcPr anchor="ctr"/>
                </a:tc>
                <a:tc>
                  <a:txBody>
                    <a:bodyPr/>
                    <a:lstStyle/>
                    <a:p>
                      <a:pPr>
                        <a:buNone/>
                      </a:pPr>
                      <a:r>
                        <a:rPr lang="en-US"/>
                        <a:t>Try the system on different kinds of books with more variety of data.</a:t>
                      </a:r>
                    </a:p>
                  </a:txBody>
                  <a:tcPr anchor="ctr"/>
                </a:tc>
                <a:extLst>
                  <a:ext uri="{0D108BD9-81ED-4DB2-BD59-A6C34878D82A}">
                    <a16:rowId xmlns:a16="http://schemas.microsoft.com/office/drawing/2014/main" val="1202712814"/>
                  </a:ext>
                </a:extLst>
              </a:tr>
              <a:tr h="733605">
                <a:tc>
                  <a:txBody>
                    <a:bodyPr/>
                    <a:lstStyle/>
                    <a:p>
                      <a:pPr>
                        <a:buNone/>
                      </a:pPr>
                      <a:r>
                        <a:rPr lang="en-US"/>
                        <a:t>Not tested enough in real classrooms</a:t>
                      </a:r>
                    </a:p>
                  </a:txBody>
                  <a:tcPr anchor="ctr"/>
                </a:tc>
                <a:tc>
                  <a:txBody>
                    <a:bodyPr/>
                    <a:lstStyle/>
                    <a:p>
                      <a:pPr>
                        <a:buNone/>
                      </a:pPr>
                      <a:r>
                        <a:rPr lang="en-US"/>
                        <a:t>Run pilot tests in schools and colleges to see how useful it really is.</a:t>
                      </a:r>
                    </a:p>
                  </a:txBody>
                  <a:tcPr anchor="ctr"/>
                </a:tc>
                <a:extLst>
                  <a:ext uri="{0D108BD9-81ED-4DB2-BD59-A6C34878D82A}">
                    <a16:rowId xmlns:a16="http://schemas.microsoft.com/office/drawing/2014/main" val="2450022242"/>
                  </a:ext>
                </a:extLst>
              </a:tr>
              <a:tr h="733605">
                <a:tc>
                  <a:txBody>
                    <a:bodyPr/>
                    <a:lstStyle/>
                    <a:p>
                      <a:pPr>
                        <a:buNone/>
                      </a:pPr>
                      <a:r>
                        <a:rPr lang="en-US" dirty="0"/>
                        <a:t>AI models may carry hidden bias</a:t>
                      </a:r>
                    </a:p>
                  </a:txBody>
                  <a:tcPr anchor="ctr"/>
                </a:tc>
                <a:tc>
                  <a:txBody>
                    <a:bodyPr/>
                    <a:lstStyle/>
                    <a:p>
                      <a:pPr>
                        <a:buNone/>
                      </a:pPr>
                      <a:r>
                        <a:rPr lang="en-US" dirty="0"/>
                        <a:t>Use balanced data and keep checking results regularly to avoid unfairness.</a:t>
                      </a:r>
                    </a:p>
                  </a:txBody>
                  <a:tcPr anchor="ctr"/>
                </a:tc>
                <a:extLst>
                  <a:ext uri="{0D108BD9-81ED-4DB2-BD59-A6C34878D82A}">
                    <a16:rowId xmlns:a16="http://schemas.microsoft.com/office/drawing/2014/main" val="659961212"/>
                  </a:ext>
                </a:extLst>
              </a:tr>
            </a:tbl>
          </a:graphicData>
        </a:graphic>
      </p:graphicFrame>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IN" dirty="0">
                <a:latin typeface="Calibri" panose="020F0502020204030204" pitchFamily="34" charset="0"/>
                <a:ea typeface="Calibri" panose="020F0502020204030204" pitchFamily="34" charset="0"/>
                <a:cs typeface="Calibri" panose="020F0502020204030204" pitchFamily="34" charset="0"/>
              </a:rPr>
              <a:t>Proposed Method &amp; Feasibility Study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EADB1D98-4727-F9DC-65F9-C055B02A5F55}"/>
              </a:ext>
            </a:extLst>
          </p:cNvPr>
          <p:cNvGraphicFramePr>
            <a:graphicFrameLocks noGrp="1"/>
          </p:cNvGraphicFramePr>
          <p:nvPr>
            <p:extLst>
              <p:ext uri="{D42A27DB-BD31-4B8C-83A1-F6EECF244321}">
                <p14:modId xmlns:p14="http://schemas.microsoft.com/office/powerpoint/2010/main" val="1501053970"/>
              </p:ext>
            </p:extLst>
          </p:nvPr>
        </p:nvGraphicFramePr>
        <p:xfrm>
          <a:off x="812800" y="965200"/>
          <a:ext cx="10141712" cy="5836920"/>
        </p:xfrm>
        <a:graphic>
          <a:graphicData uri="http://schemas.openxmlformats.org/drawingml/2006/table">
            <a:tbl>
              <a:tblPr/>
              <a:tblGrid>
                <a:gridCol w="10141712">
                  <a:extLst>
                    <a:ext uri="{9D8B030D-6E8A-4147-A177-3AD203B41FA5}">
                      <a16:colId xmlns:a16="http://schemas.microsoft.com/office/drawing/2014/main" val="1707389604"/>
                    </a:ext>
                  </a:extLst>
                </a:gridCol>
              </a:tblGrid>
              <a:tr h="3847470">
                <a:tc>
                  <a:txBody>
                    <a:bodyPr/>
                    <a:lstStyle/>
                    <a:p>
                      <a:pPr marL="285750" indent="-285750">
                        <a:buFont typeface="Arial" panose="020B0604020202020204" pitchFamily="34" charset="0"/>
                        <a:buChar char="•"/>
                      </a:pPr>
                      <a:r>
                        <a:rPr lang="en-US" sz="2000" b="1" dirty="0"/>
                        <a:t>Random Forest Algorithm</a:t>
                      </a:r>
                      <a:r>
                        <a:rPr lang="en-US" sz="2000" dirty="0"/>
                        <a:t> </a:t>
                      </a:r>
                    </a:p>
                    <a:p>
                      <a:pPr lvl="0"/>
                      <a:r>
                        <a:rPr lang="en-US" sz="2000" dirty="0"/>
                        <a:t>   - </a:t>
                      </a:r>
                      <a:r>
                        <a:rPr lang="en-IN" sz="2000" b="0" i="0" u="none" strike="noStrike" cap="none" dirty="0">
                          <a:solidFill>
                            <a:schemeClr val="tx1"/>
                          </a:solidFill>
                          <a:effectLst/>
                          <a:latin typeface="+mn-lt"/>
                          <a:ea typeface="+mn-ea"/>
                          <a:cs typeface="+mn-cs"/>
                          <a:sym typeface="Arial"/>
                        </a:rPr>
                        <a:t>It </a:t>
                      </a:r>
                      <a:r>
                        <a:rPr lang="en-IN" sz="2000" b="1" i="0" u="none" strike="noStrike" cap="none" dirty="0">
                          <a:solidFill>
                            <a:schemeClr val="tx1"/>
                          </a:solidFill>
                          <a:effectLst/>
                          <a:latin typeface="+mn-lt"/>
                          <a:ea typeface="+mn-ea"/>
                          <a:cs typeface="+mn-cs"/>
                          <a:sym typeface="Arial"/>
                        </a:rPr>
                        <a:t>splits your dataset</a:t>
                      </a:r>
                      <a:r>
                        <a:rPr lang="en-IN" sz="2000" b="0" i="0" u="none" strike="noStrike" cap="none" dirty="0">
                          <a:solidFill>
                            <a:schemeClr val="tx1"/>
                          </a:solidFill>
                          <a:effectLst/>
                          <a:latin typeface="+mn-lt"/>
                          <a:ea typeface="+mn-ea"/>
                          <a:cs typeface="+mn-cs"/>
                          <a:sym typeface="Arial"/>
                        </a:rPr>
                        <a:t> into smaller parts and builds </a:t>
                      </a:r>
                      <a:r>
                        <a:rPr lang="en-IN" sz="2000" b="1" i="0" u="none" strike="noStrike" cap="none" dirty="0">
                          <a:solidFill>
                            <a:schemeClr val="tx1"/>
                          </a:solidFill>
                          <a:effectLst/>
                          <a:latin typeface="+mn-lt"/>
                          <a:ea typeface="+mn-ea"/>
                          <a:cs typeface="+mn-cs"/>
                          <a:sym typeface="Arial"/>
                        </a:rPr>
                        <a:t>multiple decision</a:t>
                      </a:r>
                      <a:endParaRPr lang="en-IN" sz="2000" b="0" i="0" u="none" strike="noStrike" cap="none" dirty="0">
                        <a:solidFill>
                          <a:schemeClr val="tx1"/>
                        </a:solidFill>
                        <a:effectLst/>
                        <a:latin typeface="+mn-lt"/>
                        <a:ea typeface="+mn-ea"/>
                        <a:cs typeface="+mn-cs"/>
                        <a:sym typeface="Arial"/>
                      </a:endParaRPr>
                    </a:p>
                    <a:p>
                      <a:r>
                        <a:rPr lang="en-IN" sz="2000" b="1" i="0" u="none" strike="noStrike" cap="none" dirty="0">
                          <a:solidFill>
                            <a:schemeClr val="tx1"/>
                          </a:solidFill>
                          <a:effectLst/>
                          <a:latin typeface="+mn-lt"/>
                          <a:ea typeface="+mn-ea"/>
                          <a:cs typeface="+mn-cs"/>
                          <a:sym typeface="Arial"/>
                        </a:rPr>
                        <a:t>    trees</a:t>
                      </a:r>
                      <a:r>
                        <a:rPr lang="en-IN" sz="2000" b="0" i="0" u="none" strike="noStrike" cap="none" dirty="0">
                          <a:solidFill>
                            <a:schemeClr val="tx1"/>
                          </a:solidFill>
                          <a:effectLst/>
                          <a:latin typeface="+mn-lt"/>
                          <a:ea typeface="+mn-ea"/>
                          <a:cs typeface="+mn-cs"/>
                          <a:sym typeface="Arial"/>
                        </a:rPr>
                        <a:t> (like multiple people giving opinions).</a:t>
                      </a:r>
                    </a:p>
                    <a:p>
                      <a:r>
                        <a:rPr lang="en-IN" sz="2000" b="0" i="0" u="none" strike="noStrike" cap="none" dirty="0">
                          <a:solidFill>
                            <a:schemeClr val="tx1"/>
                          </a:solidFill>
                          <a:effectLst/>
                          <a:latin typeface="+mn-lt"/>
                          <a:ea typeface="+mn-ea"/>
                          <a:cs typeface="+mn-cs"/>
                          <a:sym typeface="Arial"/>
                        </a:rPr>
                        <a:t>   - Each tree makes a prediction (a "vote").</a:t>
                      </a:r>
                    </a:p>
                    <a:p>
                      <a:r>
                        <a:rPr lang="en-IN" sz="2000" b="0" i="0" u="none" strike="noStrike" cap="none" dirty="0">
                          <a:solidFill>
                            <a:schemeClr val="tx1"/>
                          </a:solidFill>
                          <a:effectLst/>
                          <a:latin typeface="+mn-lt"/>
                          <a:ea typeface="+mn-ea"/>
                          <a:cs typeface="+mn-cs"/>
                          <a:sym typeface="Arial"/>
                        </a:rPr>
                        <a:t>   - The algorithm then takes the </a:t>
                      </a:r>
                      <a:r>
                        <a:rPr lang="en-IN" sz="2000" b="1" i="0" u="none" strike="noStrike" cap="none" dirty="0">
                          <a:solidFill>
                            <a:schemeClr val="tx1"/>
                          </a:solidFill>
                          <a:effectLst/>
                          <a:latin typeface="+mn-lt"/>
                          <a:ea typeface="+mn-ea"/>
                          <a:cs typeface="+mn-cs"/>
                          <a:sym typeface="Arial"/>
                        </a:rPr>
                        <a:t>majority vote</a:t>
                      </a:r>
                      <a:r>
                        <a:rPr lang="en-IN" sz="2000" b="0" i="0" u="none" strike="noStrike" cap="none" dirty="0">
                          <a:solidFill>
                            <a:schemeClr val="tx1"/>
                          </a:solidFill>
                          <a:effectLst/>
                          <a:latin typeface="+mn-lt"/>
                          <a:ea typeface="+mn-ea"/>
                          <a:cs typeface="+mn-cs"/>
                          <a:sym typeface="Arial"/>
                        </a:rPr>
                        <a:t> as the final answer.</a:t>
                      </a:r>
                    </a:p>
                    <a:p>
                      <a:pPr marL="342900" indent="-342900" rtl="0">
                        <a:buFont typeface="Arial" panose="020B0604020202020204" pitchFamily="34" charset="0"/>
                        <a:buChar char="•"/>
                      </a:pPr>
                      <a:r>
                        <a:rPr lang="en-US" sz="2000" b="1" i="0" u="none" strike="noStrike" cap="none" dirty="0">
                          <a:solidFill>
                            <a:schemeClr val="tx1"/>
                          </a:solidFill>
                          <a:effectLst/>
                          <a:latin typeface="+mn-lt"/>
                          <a:ea typeface="+mn-ea"/>
                          <a:cs typeface="+mn-cs"/>
                          <a:sym typeface="Arial"/>
                        </a:rPr>
                        <a:t>What We Achieve Using Random Forest </a:t>
                      </a:r>
                    </a:p>
                    <a:p>
                      <a:pPr rtl="0"/>
                      <a:r>
                        <a:rPr lang="en-US" sz="2000" b="1" i="0" u="none" strike="noStrike" cap="none" dirty="0">
                          <a:solidFill>
                            <a:schemeClr val="tx1"/>
                          </a:solidFill>
                          <a:effectLst/>
                          <a:latin typeface="+mn-lt"/>
                          <a:ea typeface="+mn-ea"/>
                          <a:cs typeface="+mn-cs"/>
                          <a:sym typeface="Arial"/>
                        </a:rPr>
                        <a:t>    - Automates the evaluation process,</a:t>
                      </a:r>
                      <a:r>
                        <a:rPr lang="en-US" sz="2000" b="0" i="0" u="none" strike="noStrike" cap="none" dirty="0">
                          <a:solidFill>
                            <a:schemeClr val="tx1"/>
                          </a:solidFill>
                          <a:effectLst/>
                          <a:latin typeface="+mn-lt"/>
                          <a:ea typeface="+mn-ea"/>
                          <a:cs typeface="+mn-cs"/>
                          <a:sym typeface="Arial"/>
                        </a:rPr>
                        <a:t> reducing review time from weeks/months to just              minutes or hours</a:t>
                      </a:r>
                    </a:p>
                    <a:p>
                      <a:pPr rtl="0"/>
                      <a:r>
                        <a:rPr lang="en-US" sz="2000" b="1" i="0" u="none" strike="noStrike" cap="none" dirty="0">
                          <a:solidFill>
                            <a:schemeClr val="tx1"/>
                          </a:solidFill>
                          <a:effectLst/>
                          <a:latin typeface="+mn-lt"/>
                          <a:ea typeface="+mn-ea"/>
                          <a:cs typeface="+mn-cs"/>
                          <a:sym typeface="Arial"/>
                        </a:rPr>
                        <a:t>    - Provides data-driven, unbiased decisions,</a:t>
                      </a:r>
                      <a:r>
                        <a:rPr lang="en-US" sz="2000" b="0" i="0" u="none" strike="noStrike" cap="none" dirty="0">
                          <a:solidFill>
                            <a:schemeClr val="tx1"/>
                          </a:solidFill>
                          <a:effectLst/>
                          <a:latin typeface="+mn-lt"/>
                          <a:ea typeface="+mn-ea"/>
                          <a:cs typeface="+mn-cs"/>
                          <a:sym typeface="Arial"/>
                        </a:rPr>
                        <a:t> ensuring fair and equal evaluation for every book</a:t>
                      </a:r>
                    </a:p>
                    <a:p>
                      <a:pPr rtl="0"/>
                      <a:r>
                        <a:rPr lang="en-US" sz="2000" b="1" i="0" u="none" strike="noStrike" cap="none" dirty="0">
                          <a:solidFill>
                            <a:schemeClr val="tx1"/>
                          </a:solidFill>
                          <a:effectLst/>
                          <a:latin typeface="+mn-lt"/>
                          <a:ea typeface="+mn-ea"/>
                          <a:cs typeface="+mn-cs"/>
                          <a:sym typeface="Arial"/>
                        </a:rPr>
                        <a:t>    - Evaluates books using multiple features</a:t>
                      </a:r>
                      <a:r>
                        <a:rPr lang="en-US" sz="2000" b="0" i="0" u="none" strike="noStrike" cap="none" dirty="0">
                          <a:solidFill>
                            <a:schemeClr val="tx1"/>
                          </a:solidFill>
                          <a:effectLst/>
                          <a:latin typeface="+mn-lt"/>
                          <a:ea typeface="+mn-ea"/>
                          <a:cs typeface="+mn-cs"/>
                          <a:sym typeface="Arial"/>
                        </a:rPr>
                        <a:t> like grammar, plagiarism, readability, and reviewer feedback</a:t>
                      </a:r>
                    </a:p>
                    <a:p>
                      <a:pPr rtl="0"/>
                      <a:r>
                        <a:rPr lang="en-US" sz="2000" b="1" i="0" u="none" strike="noStrike" cap="none" dirty="0">
                          <a:solidFill>
                            <a:schemeClr val="tx1"/>
                          </a:solidFill>
                          <a:effectLst/>
                          <a:latin typeface="+mn-lt"/>
                          <a:ea typeface="+mn-ea"/>
                          <a:cs typeface="+mn-cs"/>
                          <a:sym typeface="Arial"/>
                        </a:rPr>
                        <a:t>    - Ensures only books meeting quality standards</a:t>
                      </a:r>
                      <a:r>
                        <a:rPr lang="en-US" sz="2000" b="0" i="0" u="none" strike="noStrike" cap="none" dirty="0">
                          <a:solidFill>
                            <a:schemeClr val="tx1"/>
                          </a:solidFill>
                          <a:effectLst/>
                          <a:latin typeface="+mn-lt"/>
                          <a:ea typeface="+mn-ea"/>
                          <a:cs typeface="+mn-cs"/>
                          <a:sym typeface="Arial"/>
                        </a:rPr>
                        <a:t> are approved for publication</a:t>
                      </a:r>
                    </a:p>
                    <a:p>
                      <a:pPr marL="285750" indent="-285750">
                        <a:buFont typeface="Arial" panose="020B0604020202020204" pitchFamily="34" charset="0"/>
                        <a:buChar char="•"/>
                      </a:pPr>
                      <a:endParaRPr lang="en-IN" sz="17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1263361967"/>
                  </a:ext>
                </a:extLst>
              </a:tr>
              <a:tr h="271906">
                <a:tc>
                  <a:txBody>
                    <a:bodyPr/>
                    <a:lstStyle/>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3898586249"/>
                  </a:ext>
                </a:extLst>
              </a:tr>
              <a:tr h="271906">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186618378"/>
                  </a:ext>
                </a:extLst>
              </a:tr>
              <a:tr h="271906">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4151496854"/>
                  </a:ext>
                </a:extLst>
              </a:tr>
              <a:tr h="271906">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2154635543"/>
                  </a:ext>
                </a:extLst>
              </a:tr>
              <a:tr h="271906">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1302824793"/>
                  </a:ext>
                </a:extLst>
              </a:tr>
            </a:tbl>
          </a:graphicData>
        </a:graphic>
      </p:graphicFrame>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libri" panose="020F0502020204030204" pitchFamily="34" charset="0"/>
                <a:ea typeface="Calibri" panose="020F0502020204030204" pitchFamily="34" charset="0"/>
                <a:cs typeface="Calibri" panose="020F0502020204030204" pitchFamily="34" charset="0"/>
              </a:rPr>
              <a:t>Architecture Diagram</a:t>
            </a:r>
          </a:p>
        </p:txBody>
      </p:sp>
      <p:pic>
        <p:nvPicPr>
          <p:cNvPr id="10" name="Picture 9">
            <a:extLst>
              <a:ext uri="{FF2B5EF4-FFF2-40B4-BE49-F238E27FC236}">
                <a16:creationId xmlns:a16="http://schemas.microsoft.com/office/drawing/2014/main" id="{946152D6-CB87-AB68-DD69-D48089A254A8}"/>
              </a:ext>
            </a:extLst>
          </p:cNvPr>
          <p:cNvPicPr>
            <a:picLocks noChangeAspect="1"/>
          </p:cNvPicPr>
          <p:nvPr/>
        </p:nvPicPr>
        <p:blipFill>
          <a:blip r:embed="rId3"/>
          <a:stretch>
            <a:fillRect/>
          </a:stretch>
        </p:blipFill>
        <p:spPr>
          <a:xfrm>
            <a:off x="3203422" y="1109133"/>
            <a:ext cx="5785156" cy="4763304"/>
          </a:xfrm>
          <a:prstGeom prst="rect">
            <a:avLst/>
          </a:prstGeom>
        </p:spPr>
      </p:pic>
    </p:spTree>
    <p:extLst>
      <p:ext uri="{BB962C8B-B14F-4D97-AF65-F5344CB8AC3E}">
        <p14:creationId xmlns:p14="http://schemas.microsoft.com/office/powerpoint/2010/main" val="200045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693CA-56BA-DB3C-611A-39CA8F07F1D0}"/>
              </a:ext>
            </a:extLst>
          </p:cNvPr>
          <p:cNvSpPr>
            <a:spLocks noGrp="1"/>
          </p:cNvSpPr>
          <p:nvPr>
            <p:ph type="title"/>
          </p:nvPr>
        </p:nvSpPr>
        <p:spPr>
          <a:xfrm>
            <a:off x="812800" y="518249"/>
            <a:ext cx="10668000" cy="487500"/>
          </a:xfrm>
        </p:spPr>
        <p:txBody>
          <a:bodyPr/>
          <a:lstStyle/>
          <a:p>
            <a:r>
              <a:rPr lang="en-US" dirty="0"/>
              <a:t>Modules</a:t>
            </a:r>
            <a:br>
              <a:rPr lang="en-US" dirty="0"/>
            </a:br>
            <a:endParaRPr lang="en-IN" dirty="0"/>
          </a:p>
        </p:txBody>
      </p:sp>
      <p:sp>
        <p:nvSpPr>
          <p:cNvPr id="3" name="Text Placeholder 2">
            <a:extLst>
              <a:ext uri="{FF2B5EF4-FFF2-40B4-BE49-F238E27FC236}">
                <a16:creationId xmlns:a16="http://schemas.microsoft.com/office/drawing/2014/main" id="{D9DEC6B2-B477-B8A1-7321-C0E96EDF1B1F}"/>
              </a:ext>
            </a:extLst>
          </p:cNvPr>
          <p:cNvSpPr>
            <a:spLocks noGrp="1"/>
          </p:cNvSpPr>
          <p:nvPr>
            <p:ph type="body" idx="1"/>
          </p:nvPr>
        </p:nvSpPr>
        <p:spPr/>
        <p:txBody>
          <a:bodyPr>
            <a:normAutofit/>
          </a:bodyPr>
          <a:lstStyle/>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1. Authentication (Login/Signup)</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2. Book Information Submission</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3. Assessment &amp; Rating</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4. File Upload (PDF of Book)</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5. Reviewer Details</a:t>
            </a:r>
          </a:p>
          <a:p>
            <a:pPr marL="76200" indent="0">
              <a:buNone/>
            </a:pPr>
            <a:r>
              <a:rPr lang="en-US" sz="2600" dirty="0">
                <a:latin typeface="Calibri" panose="020F0502020204030204" pitchFamily="34" charset="0"/>
                <a:ea typeface="Calibri" panose="020F0502020204030204" pitchFamily="34" charset="0"/>
                <a:cs typeface="Calibri" panose="020F0502020204030204" pitchFamily="34" charset="0"/>
              </a:rPr>
              <a:t>6. Final Submission</a:t>
            </a:r>
            <a:endParaRPr lang="en-IN" sz="2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781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D22F-C291-0312-3B92-24E465C83E45}"/>
              </a:ext>
            </a:extLst>
          </p:cNvPr>
          <p:cNvSpPr>
            <a:spLocks noGrp="1"/>
          </p:cNvSpPr>
          <p:nvPr>
            <p:ph type="title"/>
          </p:nvPr>
        </p:nvSpPr>
        <p:spPr>
          <a:xfrm>
            <a:off x="812800" y="576072"/>
            <a:ext cx="10668000" cy="186066"/>
          </a:xfrm>
        </p:spPr>
        <p:txBody>
          <a:bodyPr/>
          <a:lstStyle/>
          <a:p>
            <a:r>
              <a:rPr lang="en-US" dirty="0">
                <a:latin typeface="Cambria" panose="02040503050406030204" pitchFamily="18" charset="0"/>
                <a:ea typeface="Cambria" panose="02040503050406030204" pitchFamily="18" charset="0"/>
              </a:rPr>
              <a:t>Hardware &amp; Software Details</a:t>
            </a:r>
            <a:br>
              <a:rPr lang="en-US" dirty="0">
                <a:latin typeface="Cambria" panose="02040503050406030204" pitchFamily="18" charset="0"/>
                <a:ea typeface="Cambria" panose="02040503050406030204" pitchFamily="18" charset="0"/>
              </a:rPr>
            </a:br>
            <a:endParaRPr lang="en-IN" dirty="0"/>
          </a:p>
        </p:txBody>
      </p:sp>
      <p:sp>
        <p:nvSpPr>
          <p:cNvPr id="3" name="Text Placeholder 2">
            <a:extLst>
              <a:ext uri="{FF2B5EF4-FFF2-40B4-BE49-F238E27FC236}">
                <a16:creationId xmlns:a16="http://schemas.microsoft.com/office/drawing/2014/main" id="{737456DB-4B26-81BD-D30E-5EF658C8F441}"/>
              </a:ext>
            </a:extLst>
          </p:cNvPr>
          <p:cNvSpPr>
            <a:spLocks noGrp="1"/>
          </p:cNvSpPr>
          <p:nvPr>
            <p:ph type="body" idx="1"/>
          </p:nvPr>
        </p:nvSpPr>
        <p:spPr/>
        <p:txBody>
          <a:bodyPr/>
          <a:lstStyle/>
          <a:p>
            <a:r>
              <a:rPr lang="en-IN" b="1" dirty="0"/>
              <a:t>Hardware Requirements</a:t>
            </a:r>
          </a:p>
          <a:p>
            <a:pPr marL="76200" indent="0">
              <a:buNone/>
            </a:pPr>
            <a:r>
              <a:rPr lang="en-IN" dirty="0"/>
              <a:t>Processor: Intel i3 or above</a:t>
            </a:r>
          </a:p>
          <a:p>
            <a:pPr marL="76200" indent="0">
              <a:buNone/>
            </a:pPr>
            <a:r>
              <a:rPr lang="en-IN" dirty="0"/>
              <a:t>RAM: 4 GB (8 GB recommended)</a:t>
            </a:r>
          </a:p>
          <a:p>
            <a:pPr marL="76200" indent="0">
              <a:buNone/>
            </a:pPr>
            <a:r>
              <a:rPr lang="en-IN" dirty="0"/>
              <a:t>Hard Disk: 250 GB or higher</a:t>
            </a:r>
          </a:p>
          <a:p>
            <a:pPr marL="76200" indent="0">
              <a:buNone/>
            </a:pPr>
            <a:r>
              <a:rPr lang="en-IN" dirty="0"/>
              <a:t>Internet connection</a:t>
            </a:r>
          </a:p>
          <a:p>
            <a:r>
              <a:rPr lang="en-IN" b="1" dirty="0"/>
              <a:t>Software Requirements</a:t>
            </a:r>
          </a:p>
          <a:p>
            <a:pPr marL="76200" indent="0">
              <a:buNone/>
            </a:pPr>
            <a:r>
              <a:rPr lang="en-IN" dirty="0"/>
              <a:t>OS: Windows 10 / Linux</a:t>
            </a:r>
          </a:p>
          <a:p>
            <a:pPr marL="76200" indent="0">
              <a:buNone/>
            </a:pPr>
            <a:r>
              <a:rPr lang="en-IN" dirty="0"/>
              <a:t>Programming: Python / html/CSS</a:t>
            </a:r>
          </a:p>
          <a:p>
            <a:pPr marL="76200" indent="0">
              <a:buNone/>
            </a:pPr>
            <a:r>
              <a:rPr lang="en-IN" dirty="0"/>
              <a:t>Database: MySQL / SQLite</a:t>
            </a:r>
          </a:p>
          <a:p>
            <a:pPr marL="76200" indent="0">
              <a:buNone/>
            </a:pPr>
            <a:r>
              <a:rPr lang="en-IN" dirty="0"/>
              <a:t>Tools: MS Office / PDF Reader / Web Browser</a:t>
            </a:r>
          </a:p>
          <a:p>
            <a:endParaRPr lang="en-IN" dirty="0"/>
          </a:p>
        </p:txBody>
      </p:sp>
    </p:spTree>
    <p:extLst>
      <p:ext uri="{BB962C8B-B14F-4D97-AF65-F5344CB8AC3E}">
        <p14:creationId xmlns:p14="http://schemas.microsoft.com/office/powerpoint/2010/main" val="14549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AD55A-2905-725B-ED64-58E5096EE676}"/>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References (IEEE Paper format)</a:t>
            </a:r>
            <a:endParaRPr lang="en-IN" dirty="0"/>
          </a:p>
        </p:txBody>
      </p:sp>
      <p:sp>
        <p:nvSpPr>
          <p:cNvPr id="3" name="Text Placeholder 2">
            <a:extLst>
              <a:ext uri="{FF2B5EF4-FFF2-40B4-BE49-F238E27FC236}">
                <a16:creationId xmlns:a16="http://schemas.microsoft.com/office/drawing/2014/main" id="{C8C20076-5716-1621-ABC1-28A5409EA035}"/>
              </a:ext>
            </a:extLst>
          </p:cNvPr>
          <p:cNvSpPr>
            <a:spLocks noGrp="1"/>
          </p:cNvSpPr>
          <p:nvPr>
            <p:ph type="body" idx="1"/>
          </p:nvPr>
        </p:nvSpPr>
        <p:spPr>
          <a:xfrm>
            <a:off x="812800" y="1143001"/>
            <a:ext cx="10668000" cy="4882895"/>
          </a:xfrm>
        </p:spPr>
        <p:txBody>
          <a:bodyPr>
            <a:normAutofit fontScale="70000" lnSpcReduction="20000"/>
          </a:bodyPr>
          <a:lstStyle/>
          <a:p>
            <a:pPr>
              <a:buFont typeface="Wingdings" panose="05000000000000000000" pitchFamily="2" charset="2"/>
              <a:buChar char="§"/>
            </a:pPr>
            <a:r>
              <a:rPr lang="en-US" dirty="0">
                <a:latin typeface="Cambria" panose="02040503050406030204" pitchFamily="18" charset="0"/>
                <a:ea typeface="Cambria" panose="02040503050406030204" pitchFamily="18" charset="0"/>
              </a:rPr>
              <a:t>[1] </a:t>
            </a:r>
            <a:r>
              <a:rPr lang="en-US" i="1" dirty="0">
                <a:latin typeface="Cambria" panose="02040503050406030204" pitchFamily="18" charset="0"/>
                <a:ea typeface="Cambria" panose="02040503050406030204" pitchFamily="18" charset="0"/>
              </a:rPr>
              <a:t>Application for Assessment of Quality of Textbook/Reference Book/E-Books</a:t>
            </a:r>
            <a:r>
              <a:rPr lang="en-US" dirty="0">
                <a:latin typeface="Cambria" panose="02040503050406030204" pitchFamily="18" charset="0"/>
                <a:ea typeface="Cambria" panose="02040503050406030204" pitchFamily="18" charset="0"/>
              </a:rPr>
              <a:t>, International Journal of Engineering Innovations and Management Strategies, published circa early 2025 (about six months ago) </a:t>
            </a:r>
            <a:r>
              <a:rPr lang="en-US" dirty="0">
                <a:latin typeface="Cambria" panose="02040503050406030204" pitchFamily="18" charset="0"/>
                <a:ea typeface="Cambria" panose="02040503050406030204" pitchFamily="18" charset="0"/>
                <a:hlinkClick r:id="rId2"/>
              </a:rPr>
              <a:t>IJEIMS</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
            </a:pP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US" dirty="0">
                <a:latin typeface="Cambria" panose="02040503050406030204" pitchFamily="18" charset="0"/>
                <a:ea typeface="Cambria" panose="02040503050406030204" pitchFamily="18" charset="0"/>
              </a:rPr>
              <a:t>[2] Q. Zhou, “Evaluating book impacts via integrating multi-source reviews,” </a:t>
            </a:r>
            <a:r>
              <a:rPr lang="en-US" i="1" dirty="0" err="1">
                <a:latin typeface="Cambria" panose="02040503050406030204" pitchFamily="18" charset="0"/>
                <a:ea typeface="Cambria" panose="02040503050406030204" pitchFamily="18" charset="0"/>
              </a:rPr>
              <a:t>Scientometrics</a:t>
            </a:r>
            <a:r>
              <a:rPr lang="en-US" dirty="0">
                <a:latin typeface="Cambria" panose="02040503050406030204" pitchFamily="18" charset="0"/>
                <a:ea typeface="Cambria" panose="02040503050406030204" pitchFamily="18" charset="0"/>
              </a:rPr>
              <a:t>, vol. 129, 2024</a:t>
            </a:r>
          </a:p>
          <a:p>
            <a:pPr>
              <a:buFont typeface="Wingdings" panose="05000000000000000000" pitchFamily="2" charset="2"/>
              <a:buChar char="§"/>
            </a:pP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dirty="0">
                <a:latin typeface="Cambria" panose="02040503050406030204" pitchFamily="18" charset="0"/>
                <a:ea typeface="Cambria" panose="02040503050406030204" pitchFamily="18" charset="0"/>
              </a:rPr>
              <a:t>[3] R. K. Singh and A. Sharma, "Design and development of web-based evaluation system for academic resources," </a:t>
            </a:r>
            <a:r>
              <a:rPr lang="en-IN" i="1" dirty="0">
                <a:latin typeface="Cambria" panose="02040503050406030204" pitchFamily="18" charset="0"/>
                <a:ea typeface="Cambria" panose="02040503050406030204" pitchFamily="18" charset="0"/>
              </a:rPr>
              <a:t>International Journal of Computer Applications</a:t>
            </a:r>
            <a:r>
              <a:rPr lang="en-IN" dirty="0">
                <a:latin typeface="Cambria" panose="02040503050406030204" pitchFamily="18" charset="0"/>
                <a:ea typeface="Cambria" panose="02040503050406030204" pitchFamily="18" charset="0"/>
              </a:rPr>
              <a:t>, vol. 183, no. 8, pp. 25–30, June 2021.</a:t>
            </a:r>
          </a:p>
          <a:p>
            <a:pPr marL="76200" indent="0">
              <a:buNone/>
            </a:pPr>
            <a:endParaRPr lang="en-IN"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dirty="0">
                <a:latin typeface="Cambria" panose="02040503050406030204" pitchFamily="18" charset="0"/>
                <a:ea typeface="Cambria" panose="02040503050406030204" pitchFamily="18" charset="0"/>
              </a:rPr>
              <a:t>[4] S. R. K. Somasekhar, P. V. Kumar, and R. J. Reddy, "Automated assessment of educational content using multi-criteria analysis," in </a:t>
            </a:r>
            <a:r>
              <a:rPr lang="en-IN" i="1" dirty="0">
                <a:latin typeface="Cambria" panose="02040503050406030204" pitchFamily="18" charset="0"/>
                <a:ea typeface="Cambria" panose="02040503050406030204" pitchFamily="18" charset="0"/>
              </a:rPr>
              <a:t>Proc. IEEE International Conf. on Technology for Education (T4E)</a:t>
            </a:r>
            <a:r>
              <a:rPr lang="en-IN" dirty="0">
                <a:latin typeface="Cambria" panose="02040503050406030204" pitchFamily="18" charset="0"/>
                <a:ea typeface="Cambria" panose="02040503050406030204" pitchFamily="18" charset="0"/>
              </a:rPr>
              <a:t>, Mumbai, India, 2020, pp. 215–220.</a:t>
            </a:r>
          </a:p>
          <a:p>
            <a:pPr>
              <a:buFont typeface="Wingdings" panose="05000000000000000000" pitchFamily="2" charset="2"/>
              <a:buChar char="§"/>
            </a:pPr>
            <a:r>
              <a:rPr lang="en-IN" dirty="0">
                <a:latin typeface="Cambria" panose="02040503050406030204" pitchFamily="18" charset="0"/>
                <a:ea typeface="Cambria" panose="02040503050406030204" pitchFamily="18" charset="0"/>
              </a:rPr>
              <a:t>[5] M. A. Al-Emran, "Towards an intelligent framework for textbook evaluation in higher education," </a:t>
            </a:r>
            <a:r>
              <a:rPr lang="en-IN" i="1" dirty="0">
                <a:latin typeface="Cambria" panose="02040503050406030204" pitchFamily="18" charset="0"/>
                <a:ea typeface="Cambria" panose="02040503050406030204" pitchFamily="18" charset="0"/>
              </a:rPr>
              <a:t>Education and Information Technologies</a:t>
            </a:r>
            <a:r>
              <a:rPr lang="en-IN" dirty="0">
                <a:latin typeface="Cambria" panose="02040503050406030204" pitchFamily="18" charset="0"/>
                <a:ea typeface="Cambria" panose="02040503050406030204" pitchFamily="18" charset="0"/>
              </a:rPr>
              <a:t>, vol. 24, no. 2, pp. 1453–1468, Mar. 2019.</a:t>
            </a:r>
          </a:p>
          <a:p>
            <a:pPr>
              <a:buFont typeface="Wingdings" panose="05000000000000000000" pitchFamily="2" charset="2"/>
              <a:buChar char="§"/>
            </a:pPr>
            <a:r>
              <a:rPr lang="en-IN" dirty="0">
                <a:latin typeface="Cambria" panose="02040503050406030204" pitchFamily="18" charset="0"/>
                <a:ea typeface="Cambria" panose="02040503050406030204" pitchFamily="18" charset="0"/>
              </a:rPr>
              <a:t>[6] N. G. T. Izquierdo, L. A. G. Villalobos, and J. D. M. Ramírez, "A framework for the evaluation of e-learning materials," in </a:t>
            </a:r>
            <a:r>
              <a:rPr lang="en-IN" i="1" dirty="0">
                <a:latin typeface="Cambria" panose="02040503050406030204" pitchFamily="18" charset="0"/>
                <a:ea typeface="Cambria" panose="02040503050406030204" pitchFamily="18" charset="0"/>
              </a:rPr>
              <a:t>Proc. IEEE Global Engineering Education Conf. (EDUCON)</a:t>
            </a:r>
            <a:r>
              <a:rPr lang="en-IN" dirty="0">
                <a:latin typeface="Cambria" panose="02040503050406030204" pitchFamily="18" charset="0"/>
                <a:ea typeface="Cambria" panose="02040503050406030204" pitchFamily="18" charset="0"/>
              </a:rPr>
              <a:t>, Abu Dhabi, UAE, 2016, pp. 1129–1134.</a:t>
            </a:r>
          </a:p>
          <a:p>
            <a:pPr>
              <a:buFont typeface="Wingdings" panose="05000000000000000000" pitchFamily="2" charset="2"/>
              <a:buChar char="§"/>
            </a:pPr>
            <a:r>
              <a:rPr lang="en-IN" dirty="0">
                <a:latin typeface="Cambria" panose="02040503050406030204" pitchFamily="18" charset="0"/>
                <a:ea typeface="Cambria" panose="02040503050406030204" pitchFamily="18" charset="0"/>
              </a:rPr>
              <a:t>[7] T. M. Connolly and E. A. Stansfield, "Evaluating the quality of learning resources: A web-based approach," in </a:t>
            </a:r>
            <a:r>
              <a:rPr lang="en-IN" i="1" dirty="0">
                <a:latin typeface="Cambria" panose="02040503050406030204" pitchFamily="18" charset="0"/>
                <a:ea typeface="Cambria" panose="02040503050406030204" pitchFamily="18" charset="0"/>
              </a:rPr>
              <a:t>Proc. IEEE International Conf. on Advanced Learning Technologies (ICALT)</a:t>
            </a:r>
            <a:r>
              <a:rPr lang="en-IN" dirty="0">
                <a:latin typeface="Cambria" panose="02040503050406030204" pitchFamily="18" charset="0"/>
                <a:ea typeface="Cambria" panose="02040503050406030204" pitchFamily="18" charset="0"/>
              </a:rPr>
              <a:t>, Athens, Greece, 2014, pp. 37–41.</a:t>
            </a:r>
          </a:p>
          <a:p>
            <a:pPr>
              <a:buFont typeface="Wingdings" panose="05000000000000000000" pitchFamily="2" charset="2"/>
              <a:buChar char="§"/>
            </a:pPr>
            <a:endParaRPr lang="en-IN" dirty="0">
              <a:latin typeface="Cambria" panose="02040503050406030204" pitchFamily="18" charset="0"/>
              <a:ea typeface="Cambria" panose="02040503050406030204" pitchFamily="18" charset="0"/>
            </a:endParaRPr>
          </a:p>
          <a:p>
            <a:endParaRPr lang="en-IN" dirty="0"/>
          </a:p>
        </p:txBody>
      </p:sp>
    </p:spTree>
    <p:extLst>
      <p:ext uri="{BB962C8B-B14F-4D97-AF65-F5344CB8AC3E}">
        <p14:creationId xmlns:p14="http://schemas.microsoft.com/office/powerpoint/2010/main" val="1529679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663</TotalTime>
  <Words>1514</Words>
  <Application>Microsoft Office PowerPoint</Application>
  <PresentationFormat>Widescreen</PresentationFormat>
  <Paragraphs>128</Paragraphs>
  <Slides>13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Bernard MT Condensed</vt:lpstr>
      <vt:lpstr>Blackadder ITC</vt:lpstr>
      <vt:lpstr>Calibri</vt:lpstr>
      <vt:lpstr>Cambria</vt:lpstr>
      <vt:lpstr>Verdana</vt:lpstr>
      <vt:lpstr>Wingdings</vt:lpstr>
      <vt:lpstr>Bioinformatics</vt:lpstr>
      <vt:lpstr>PSCS_46_Application for Assessment of Quality of Textbook/ Reference Books/E-Books </vt:lpstr>
      <vt:lpstr>Problem Statement Number : PSCS_46 </vt:lpstr>
      <vt:lpstr>Content</vt:lpstr>
      <vt:lpstr>Abstract</vt:lpstr>
      <vt:lpstr>Literature Survey</vt:lpstr>
      <vt:lpstr>Objectives</vt:lpstr>
      <vt:lpstr>Drawbacks &amp; Overcome </vt:lpstr>
      <vt:lpstr>Proposed Method &amp; Feasibility Study</vt:lpstr>
      <vt:lpstr>Architecture Diagram</vt:lpstr>
      <vt:lpstr>Modules </vt:lpstr>
      <vt:lpstr>Hardware &amp; Software Details </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Syed Thousif</cp:lastModifiedBy>
  <cp:revision>51</cp:revision>
  <dcterms:modified xsi:type="dcterms:W3CDTF">2025-09-22T08:58:25Z</dcterms:modified>
</cp:coreProperties>
</file>