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80" r:id="rId4"/>
    <p:sldId id="259" r:id="rId5"/>
    <p:sldId id="269" r:id="rId6"/>
    <p:sldId id="260" r:id="rId7"/>
    <p:sldId id="261" r:id="rId8"/>
    <p:sldId id="263" r:id="rId9"/>
    <p:sldId id="264" r:id="rId10"/>
    <p:sldId id="272" r:id="rId11"/>
    <p:sldId id="275" r:id="rId12"/>
    <p:sldId id="279" r:id="rId13"/>
    <p:sldId id="265" r:id="rId14"/>
    <p:sldId id="267" r:id="rId15"/>
    <p:sldId id="268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6102" y="886967"/>
            <a:ext cx="10668000" cy="59690"/>
          </a:xfrm>
          <a:custGeom>
            <a:avLst/>
            <a:gdLst/>
            <a:ahLst/>
            <a:cxnLst/>
            <a:rect l="l" t="t" r="r" b="b"/>
            <a:pathLst>
              <a:path w="10668000" h="59690">
                <a:moveTo>
                  <a:pt x="10668000" y="47498"/>
                </a:moveTo>
                <a:lnTo>
                  <a:pt x="0" y="47498"/>
                </a:lnTo>
                <a:lnTo>
                  <a:pt x="0" y="59436"/>
                </a:lnTo>
                <a:lnTo>
                  <a:pt x="10668000" y="59436"/>
                </a:lnTo>
                <a:lnTo>
                  <a:pt x="10668000" y="47498"/>
                </a:lnTo>
                <a:close/>
              </a:path>
              <a:path w="10668000" h="59690">
                <a:moveTo>
                  <a:pt x="10668000" y="0"/>
                </a:moveTo>
                <a:lnTo>
                  <a:pt x="0" y="0"/>
                </a:lnTo>
                <a:lnTo>
                  <a:pt x="0" y="35687"/>
                </a:lnTo>
                <a:lnTo>
                  <a:pt x="10668000" y="35687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89320"/>
            <a:ext cx="12193523" cy="8686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1946" y="283286"/>
            <a:ext cx="5189855" cy="533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7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0636" y="1128217"/>
            <a:ext cx="10427970" cy="4763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housif/Application-for-Assessment-of-Quality-of-Textbook-Reference-Books-E-Books-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journaleims.com/application-for-assessment-of-quality-of-textbook-reference-book-e-books/?utm_source=chatgpt.co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05561" y="2774678"/>
          <a:ext cx="4495165" cy="283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45">
                <a:tc>
                  <a:txBody>
                    <a:bodyPr/>
                    <a:lstStyle/>
                    <a:p>
                      <a:pPr marL="31750">
                        <a:lnSpc>
                          <a:spcPts val="2140"/>
                        </a:lnSpc>
                      </a:pPr>
                      <a:r>
                        <a:rPr sz="1900" b="1" spc="10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Roll</a:t>
                      </a:r>
                      <a:r>
                        <a:rPr sz="1900" b="1" spc="22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b="1" spc="8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Number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1655">
                        <a:lnSpc>
                          <a:spcPts val="2140"/>
                        </a:lnSpc>
                      </a:pPr>
                      <a:r>
                        <a:rPr sz="1900" b="1" spc="15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Student</a:t>
                      </a:r>
                      <a:r>
                        <a:rPr sz="1900" b="1" spc="18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900" b="1" spc="100" dirty="0">
                          <a:solidFill>
                            <a:srgbClr val="17365D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endParaRPr sz="19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8739" y="1163523"/>
            <a:ext cx="11357610" cy="5003293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933575" marR="747395" indent="-750570" algn="ctr">
              <a:lnSpc>
                <a:spcPct val="100000"/>
              </a:lnSpc>
              <a:spcBef>
                <a:spcPts val="115"/>
              </a:spcBef>
            </a:pPr>
            <a:r>
              <a:rPr lang="en-US" sz="2400" b="1" dirty="0"/>
              <a:t>PSCS_46_Application for Assessment of Quality of Textbook/ Reference Books/ E-Books</a:t>
            </a:r>
            <a:r>
              <a:rPr lang="en-US" sz="2400" b="1" spc="-10" dirty="0">
                <a:latin typeface="Cambria"/>
                <a:cs typeface="Cambria"/>
              </a:rPr>
              <a:t> </a:t>
            </a:r>
            <a:endParaRPr lang="en-US" sz="2400" b="1" dirty="0">
              <a:latin typeface="Cambria"/>
              <a:cs typeface="Cambria"/>
            </a:endParaRPr>
          </a:p>
          <a:p>
            <a:pPr marL="649605">
              <a:lnSpc>
                <a:spcPct val="100000"/>
              </a:lnSpc>
              <a:spcBef>
                <a:spcPts val="130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Batch</a:t>
            </a:r>
            <a:r>
              <a:rPr sz="1800" b="1" spc="-2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Number:</a:t>
            </a:r>
            <a:r>
              <a:rPr sz="1800" b="1" spc="-4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550" b="1" spc="-10" dirty="0">
                <a:solidFill>
                  <a:srgbClr val="17365D"/>
                </a:solidFill>
                <a:latin typeface="Verdana"/>
                <a:cs typeface="Verdana"/>
              </a:rPr>
              <a:t>C</a:t>
            </a:r>
            <a:r>
              <a:rPr lang="en-IN" sz="1550" b="1" spc="-10" dirty="0">
                <a:solidFill>
                  <a:srgbClr val="17365D"/>
                </a:solidFill>
                <a:latin typeface="Verdana"/>
                <a:cs typeface="Verdana"/>
              </a:rPr>
              <a:t>SE</a:t>
            </a:r>
            <a:r>
              <a:rPr sz="1550" b="1" spc="-10" dirty="0">
                <a:solidFill>
                  <a:srgbClr val="17365D"/>
                </a:solidFill>
                <a:latin typeface="Verdana"/>
                <a:cs typeface="Verdana"/>
              </a:rPr>
              <a:t>_</a:t>
            </a:r>
            <a:r>
              <a:rPr lang="en-US" sz="1550" b="1" spc="-10" dirty="0">
                <a:solidFill>
                  <a:srgbClr val="17365D"/>
                </a:solidFill>
                <a:latin typeface="Verdana"/>
                <a:cs typeface="Verdana"/>
              </a:rPr>
              <a:t>23</a:t>
            </a:r>
            <a:endParaRPr sz="1550" dirty="0">
              <a:latin typeface="Verdana"/>
              <a:cs typeface="Verdana"/>
            </a:endParaRPr>
          </a:p>
          <a:p>
            <a:pPr marL="6964680">
              <a:lnSpc>
                <a:spcPct val="100000"/>
              </a:lnSpc>
              <a:spcBef>
                <a:spcPts val="1630"/>
              </a:spcBef>
            </a:pP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Under</a:t>
            </a:r>
            <a:r>
              <a:rPr sz="1800" b="1" spc="-3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7365D"/>
                </a:solidFill>
                <a:latin typeface="Cambria"/>
                <a:cs typeface="Cambria"/>
              </a:rPr>
              <a:t>the</a:t>
            </a:r>
            <a:r>
              <a:rPr sz="1800" b="1" spc="2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7365D"/>
                </a:solidFill>
                <a:latin typeface="Cambria"/>
                <a:cs typeface="Cambria"/>
              </a:rPr>
              <a:t>Supervision</a:t>
            </a:r>
            <a:r>
              <a:rPr sz="1800" b="1" spc="-7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7365D"/>
                </a:solidFill>
                <a:latin typeface="Cambria"/>
                <a:cs typeface="Cambria"/>
              </a:rPr>
              <a:t>of,</a:t>
            </a: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800" dirty="0">
              <a:latin typeface="Cambria"/>
              <a:cs typeface="Cambria"/>
            </a:endParaRPr>
          </a:p>
          <a:p>
            <a:pPr marL="6964680">
              <a:lnSpc>
                <a:spcPct val="100000"/>
              </a:lnSpc>
            </a:pP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Guide</a:t>
            </a:r>
            <a:r>
              <a:rPr sz="1700" b="1" spc="-3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lang="en-IN" sz="1700" b="1" dirty="0">
                <a:solidFill>
                  <a:srgbClr val="17365D"/>
                </a:solidFill>
                <a:latin typeface="Cambria"/>
                <a:cs typeface="Cambria"/>
              </a:rPr>
              <a:t>–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lang="en-US" sz="1700" b="1" spc="-30" dirty="0">
                <a:solidFill>
                  <a:srgbClr val="17365D"/>
                </a:solidFill>
                <a:latin typeface="Cambria"/>
                <a:cs typeface="Cambria"/>
              </a:rPr>
              <a:t>MS. </a:t>
            </a:r>
            <a:r>
              <a:rPr lang="en-US" sz="1700" b="1" spc="-30" dirty="0" err="1">
                <a:solidFill>
                  <a:srgbClr val="17365D"/>
                </a:solidFill>
                <a:latin typeface="Cambria"/>
                <a:cs typeface="Cambria"/>
              </a:rPr>
              <a:t>Kummara</a:t>
            </a:r>
            <a:r>
              <a:rPr lang="en-US" sz="1700" b="1" spc="-30" dirty="0">
                <a:solidFill>
                  <a:srgbClr val="17365D"/>
                </a:solidFill>
                <a:latin typeface="Cambria"/>
                <a:cs typeface="Cambria"/>
              </a:rPr>
              <a:t> Sruthi (Assistant Professor)</a:t>
            </a:r>
            <a:endParaRPr sz="1700" dirty="0">
              <a:latin typeface="Cambria"/>
              <a:cs typeface="Cambria"/>
            </a:endParaRPr>
          </a:p>
          <a:p>
            <a:pPr marL="6964680">
              <a:lnSpc>
                <a:spcPct val="100000"/>
              </a:lnSpc>
              <a:spcBef>
                <a:spcPts val="305"/>
              </a:spcBef>
            </a:pP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School</a:t>
            </a:r>
            <a:r>
              <a:rPr sz="1700" b="1" spc="-4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of</a:t>
            </a:r>
            <a:r>
              <a:rPr sz="1700" b="1" spc="-3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Computer</a:t>
            </a:r>
            <a:r>
              <a:rPr sz="1700" b="1" spc="-5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Science</a:t>
            </a:r>
            <a:r>
              <a:rPr sz="1700" b="1" spc="5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and</a:t>
            </a:r>
            <a:r>
              <a:rPr sz="1700" b="1" spc="-3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Engineering</a:t>
            </a:r>
            <a:endParaRPr sz="1700" dirty="0">
              <a:latin typeface="Cambria"/>
              <a:cs typeface="Cambria"/>
            </a:endParaRPr>
          </a:p>
          <a:p>
            <a:pPr marL="6964680">
              <a:lnSpc>
                <a:spcPct val="100000"/>
              </a:lnSpc>
              <a:spcBef>
                <a:spcPts val="300"/>
              </a:spcBef>
            </a:pPr>
            <a:r>
              <a:rPr sz="1700" b="1" dirty="0">
                <a:solidFill>
                  <a:srgbClr val="17365D"/>
                </a:solidFill>
                <a:latin typeface="Cambria"/>
                <a:cs typeface="Cambria"/>
              </a:rPr>
              <a:t>Presidency</a:t>
            </a:r>
            <a:r>
              <a:rPr sz="1700" b="1" spc="-90" dirty="0">
                <a:solidFill>
                  <a:srgbClr val="17365D"/>
                </a:solidFill>
                <a:latin typeface="Cambria"/>
                <a:cs typeface="Cambria"/>
              </a:rPr>
              <a:t> </a:t>
            </a:r>
            <a:r>
              <a:rPr sz="1700" b="1" spc="-10" dirty="0">
                <a:solidFill>
                  <a:srgbClr val="17365D"/>
                </a:solidFill>
                <a:latin typeface="Cambria"/>
                <a:cs typeface="Cambria"/>
              </a:rPr>
              <a:t>University</a:t>
            </a: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endParaRPr lang="en-US" sz="1800" b="1" dirty="0">
              <a:solidFill>
                <a:srgbClr val="4F81BC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5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Program:</a:t>
            </a:r>
            <a:r>
              <a:rPr lang="en-IN"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IN" sz="1800" b="1" spc="-10" dirty="0">
                <a:solidFill>
                  <a:schemeClr val="tx1"/>
                </a:solidFill>
                <a:latin typeface="Cambria"/>
                <a:cs typeface="Cambria"/>
              </a:rPr>
              <a:t>School Of Computer Science &amp; Engineering</a:t>
            </a:r>
            <a:endParaRPr sz="1800" dirty="0">
              <a:solidFill>
                <a:schemeClr val="tx1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5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HoD:</a:t>
            </a:r>
            <a:r>
              <a:rPr sz="1800" b="1" spc="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latin typeface="Arial"/>
                <a:cs typeface="Arial"/>
              </a:rPr>
              <a:t>Dr.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lang="en-IN" sz="1800" b="1" dirty="0">
                <a:latin typeface="Arial"/>
                <a:cs typeface="Arial"/>
              </a:rPr>
              <a:t>Asif Mohammed, Dr. Blessed Prince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7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6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5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Coordinator:</a:t>
            </a:r>
            <a:r>
              <a:rPr sz="1800" b="1" spc="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IN" b="1" spc="20" dirty="0">
                <a:solidFill>
                  <a:schemeClr val="tx1"/>
                </a:solidFill>
                <a:latin typeface="Arial"/>
                <a:cs typeface="Arial"/>
              </a:rPr>
              <a:t>Mr. </a:t>
            </a:r>
            <a:r>
              <a:rPr lang="en-IN" b="1" spc="20" dirty="0" err="1">
                <a:solidFill>
                  <a:schemeClr val="tx1"/>
                </a:solidFill>
                <a:latin typeface="Arial"/>
                <a:cs typeface="Arial"/>
              </a:rPr>
              <a:t>Muthuraju</a:t>
            </a:r>
            <a:r>
              <a:rPr lang="en-IN" b="1" spc="20" dirty="0">
                <a:solidFill>
                  <a:schemeClr val="tx1"/>
                </a:solidFill>
                <a:latin typeface="Arial"/>
                <a:cs typeface="Arial"/>
              </a:rPr>
              <a:t> V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4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4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School</a:t>
            </a:r>
            <a:r>
              <a:rPr sz="1800" b="1" spc="3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 Coordinators:</a:t>
            </a:r>
            <a:r>
              <a:rPr sz="1800" b="1" spc="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Dr.</a:t>
            </a:r>
            <a:r>
              <a:rPr sz="1800" b="1" spc="-1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Sampath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K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,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Dr.</a:t>
            </a:r>
            <a:r>
              <a:rPr sz="1800" b="1" spc="-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Geetha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A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61282" y="128076"/>
            <a:ext cx="2848610" cy="617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 marR="5080" indent="-915035">
              <a:lnSpc>
                <a:spcPct val="113500"/>
              </a:lnSpc>
              <a:spcBef>
                <a:spcPts val="95"/>
              </a:spcBef>
            </a:pPr>
            <a:r>
              <a:rPr sz="1800" dirty="0"/>
              <a:t>CSE7101-</a:t>
            </a:r>
            <a:r>
              <a:rPr sz="1800" spc="-80" dirty="0"/>
              <a:t> </a:t>
            </a:r>
            <a:r>
              <a:rPr sz="1800" dirty="0"/>
              <a:t>Capstone</a:t>
            </a:r>
            <a:r>
              <a:rPr sz="1800" spc="-30" dirty="0"/>
              <a:t> </a:t>
            </a:r>
            <a:r>
              <a:rPr sz="1800" spc="-10" dirty="0"/>
              <a:t>Project </a:t>
            </a:r>
            <a:r>
              <a:rPr sz="1800" dirty="0"/>
              <a:t>Review-</a:t>
            </a:r>
            <a:r>
              <a:rPr lang="en-US" sz="1800" spc="-50" dirty="0"/>
              <a:t>4</a:t>
            </a:r>
            <a:endParaRPr sz="1800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756313"/>
              </p:ext>
            </p:extLst>
          </p:nvPr>
        </p:nvGraphicFramePr>
        <p:xfrm>
          <a:off x="705560" y="2756391"/>
          <a:ext cx="5121988" cy="158701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560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6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IN" sz="1400" dirty="0"/>
                        <a:t>Roll Number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400" dirty="0">
                          <a:latin typeface="Arial MT"/>
                          <a:cs typeface="Arial MT"/>
                        </a:rPr>
                        <a:t>Student Name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5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IN" sz="1400" dirty="0">
                          <a:latin typeface="Arial MT"/>
                          <a:cs typeface="Arial MT"/>
                        </a:rPr>
                        <a:t>20221CSE0234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IN" sz="1400" dirty="0">
                          <a:latin typeface="Arial MT"/>
                          <a:cs typeface="Arial MT"/>
                        </a:rPr>
                        <a:t>Syed Thousif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3245246806"/>
                  </a:ext>
                </a:extLst>
              </a:tr>
              <a:tr h="401354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400" spc="-10" dirty="0">
                          <a:latin typeface="Arial MT"/>
                          <a:cs typeface="Arial MT"/>
                        </a:rPr>
                        <a:t>20221CSE0213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lang="en-US" sz="1400" dirty="0">
                          <a:latin typeface="Arial MT"/>
                          <a:cs typeface="Arial MT"/>
                        </a:rPr>
                        <a:t>Patil Jashwanth Reddy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89">
                <a:tc>
                  <a:txBody>
                    <a:bodyPr/>
                    <a:lstStyle/>
                    <a:p>
                      <a:pPr marL="9144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US" sz="1400" spc="-10" dirty="0">
                          <a:latin typeface="Arial MT"/>
                          <a:cs typeface="Arial MT"/>
                        </a:rPr>
                        <a:t>20221CSE0211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lang="en-US" sz="1400" dirty="0" err="1">
                          <a:latin typeface="Arial MT"/>
                          <a:cs typeface="Arial MT"/>
                        </a:rPr>
                        <a:t>Kambam</a:t>
                      </a:r>
                      <a:r>
                        <a:rPr lang="en-US" sz="1400" dirty="0">
                          <a:latin typeface="Arial MT"/>
                          <a:cs typeface="Arial MT"/>
                        </a:rPr>
                        <a:t> Nithin Kumar Reddy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444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946" y="283286"/>
            <a:ext cx="5189855" cy="87588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pc="-10" dirty="0"/>
              <a:t>Concentrate On These </a:t>
            </a:r>
            <a:br>
              <a:rPr lang="en-IN" spc="-10" dirty="0"/>
            </a:b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85850" y="1724355"/>
            <a:ext cx="10361930" cy="22720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2655"/>
              </a:spcBef>
              <a:buSzPct val="109090"/>
              <a:buFont typeface="Wingdings"/>
              <a:buChar char=""/>
              <a:tabLst>
                <a:tab pos="354965" algn="l"/>
              </a:tabLst>
            </a:pPr>
            <a:r>
              <a:rPr sz="2200" dirty="0">
                <a:latin typeface="Verdana"/>
                <a:cs typeface="Verdana"/>
              </a:rPr>
              <a:t>Source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Code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Details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</a:t>
            </a:r>
            <a:r>
              <a:rPr lang="en-US" sz="2200" spc="-10" dirty="0">
                <a:latin typeface="Verdana"/>
                <a:cs typeface="Verdana"/>
              </a:rPr>
              <a:t>100</a:t>
            </a:r>
            <a:r>
              <a:rPr sz="2200" spc="-10" dirty="0">
                <a:latin typeface="Verdana"/>
                <a:cs typeface="Verdana"/>
              </a:rPr>
              <a:t>%)</a:t>
            </a:r>
            <a:endParaRPr sz="2200" dirty="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2620"/>
              </a:spcBef>
              <a:buSzPct val="109090"/>
              <a:buFont typeface="Wingdings"/>
              <a:buChar char=""/>
              <a:tabLst>
                <a:tab pos="354965" algn="l"/>
              </a:tabLst>
            </a:pPr>
            <a:r>
              <a:rPr lang="en-US" sz="2200" dirty="0">
                <a:latin typeface="Verdana"/>
                <a:cs typeface="Verdana"/>
              </a:rPr>
              <a:t>100</a:t>
            </a:r>
            <a:r>
              <a:rPr sz="2200" dirty="0">
                <a:latin typeface="Verdana"/>
                <a:cs typeface="Verdana"/>
              </a:rPr>
              <a:t>%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Implementation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Live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Demo</a:t>
            </a:r>
            <a:endParaRPr sz="2200" dirty="0">
              <a:latin typeface="Verdana"/>
              <a:cs typeface="Verdana"/>
            </a:endParaRPr>
          </a:p>
          <a:p>
            <a:pPr marL="355600" marR="5080" indent="-342900">
              <a:lnSpc>
                <a:spcPct val="200599"/>
              </a:lnSpc>
              <a:buSzPct val="109090"/>
              <a:buFont typeface="Wingdings"/>
              <a:buChar char=""/>
              <a:tabLst>
                <a:tab pos="355600" algn="l"/>
              </a:tabLst>
            </a:pPr>
            <a:r>
              <a:rPr lang="en-US" sz="2200" dirty="0">
                <a:latin typeface="Verdana"/>
                <a:cs typeface="Verdana"/>
              </a:rPr>
              <a:t>80</a:t>
            </a:r>
            <a:r>
              <a:rPr sz="2200" dirty="0">
                <a:latin typeface="Verdana"/>
                <a:cs typeface="Verdana"/>
              </a:rPr>
              <a:t>%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Report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Softcopy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Submission-</a:t>
            </a:r>
            <a:r>
              <a:rPr sz="2200" dirty="0">
                <a:latin typeface="Verdana"/>
                <a:cs typeface="Verdana"/>
              </a:rPr>
              <a:t>Draft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(Abstract,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Literature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Review, </a:t>
            </a:r>
            <a:r>
              <a:rPr sz="2200" dirty="0">
                <a:latin typeface="Verdana"/>
                <a:cs typeface="Verdana"/>
              </a:rPr>
              <a:t>System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Design.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Architecture,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Algorithm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Details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Module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Description)</a:t>
            </a:r>
            <a:endParaRPr sz="2200" dirty="0"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5E3BC-2A87-8954-AEEE-8DB6EAB1C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946" y="283286"/>
            <a:ext cx="5189855" cy="430887"/>
          </a:xfrm>
        </p:spPr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755B5-C1E1-8DDA-505B-CAEC69813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0636" y="1128216"/>
            <a:ext cx="10427970" cy="455509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Technology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System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Key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Code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Database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User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Results &amp;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Conclusion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 err="1"/>
              <a:t>Github</a:t>
            </a:r>
            <a:r>
              <a:rPr lang="en-IN" sz="1800" spc="-70" dirty="0"/>
              <a:t> </a:t>
            </a:r>
            <a:r>
              <a:rPr lang="en-IN" sz="1800" spc="-20" dirty="0"/>
              <a:t>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References</a:t>
            </a:r>
            <a:r>
              <a:rPr lang="en-IN" sz="1800" spc="-55" dirty="0"/>
              <a:t> </a:t>
            </a:r>
            <a:r>
              <a:rPr lang="en-IN" sz="1800" dirty="0"/>
              <a:t>(IEEE</a:t>
            </a:r>
            <a:r>
              <a:rPr lang="en-IN" sz="1800" spc="-85" dirty="0"/>
              <a:t> </a:t>
            </a:r>
            <a:r>
              <a:rPr lang="en-IN" sz="1800" dirty="0"/>
              <a:t>Paper</a:t>
            </a:r>
            <a:r>
              <a:rPr lang="en-IN" sz="1800" spc="-80" dirty="0"/>
              <a:t> </a:t>
            </a:r>
            <a:r>
              <a:rPr lang="en-IN" sz="1800" spc="-10" dirty="0"/>
              <a:t>format)</a:t>
            </a:r>
            <a:endParaRPr lang="en-IN" sz="1800" spc="-2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939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946" y="283286"/>
            <a:ext cx="518985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D1F2797-DB82-0AD3-402E-C8F12044F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562" y="1143000"/>
            <a:ext cx="1019061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an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system for assessing textbook/e-book quality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content using AI-based scoring (accuracy, readability, consistency)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multiple input formats: PDF, DOCX, TXT, and camera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a clean dashboard for evaluation results and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o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all evaluations in a secure MongoDB database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future analysis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607B5-5E05-132A-9E6C-35AF27EA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4C2D81-9C37-411C-8031-9820C76D82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1946" y="283286"/>
            <a:ext cx="518985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3250D25-0219-A8E6-3BA0-C43532449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426" y="1249233"/>
            <a:ext cx="905728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HTML5, CSS3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Python, Flask Framework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Google Gemini API (Text + Image input)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MongoDB with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GridFS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large file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PyPDF2, python-docx,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werkzeug.security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bson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VS Code, MongoDB Compass/Atlas, Browser Developer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</a:t>
            </a:r>
          </a:p>
        </p:txBody>
      </p:sp>
    </p:spTree>
    <p:extLst>
      <p:ext uri="{BB962C8B-B14F-4D97-AF65-F5344CB8AC3E}">
        <p14:creationId xmlns:p14="http://schemas.microsoft.com/office/powerpoint/2010/main" val="4148617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946" y="283286"/>
            <a:ext cx="518985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8C00413-A8F7-0C18-4892-C6F8D99A93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914400"/>
            <a:ext cx="502920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 Layer: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File upload, camera capture, result display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Layer (Flask):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Routing (login, register, analyze, history)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Text extraction for PDF/DOCX/TXT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evaluation logic and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Layer (Gemini):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Processes text or image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Returns structured JSON evaluation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Layer (MongoDB):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collection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Evaluation collection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GridFS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file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13C30B-9779-3FC7-BB9C-6F88BB89F0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8800"/>
            <a:ext cx="5397500" cy="29440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1946" y="283286"/>
            <a:ext cx="518985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r>
              <a:rPr lang="en-IN" dirty="0"/>
              <a:t>Key Features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FAD4CD9-069F-B07E-F5F0-DAEF9B9A9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71325"/>
            <a:ext cx="693420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 (login/register)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or capture textbook pages using camera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text extraction for document files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evaluation with detailed scoring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 cards with structured explanations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History panel showing previous evaluations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file storage using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GridFS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Responsive, modern UI with smooth interactions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1946" y="283286"/>
            <a:ext cx="5189855" cy="44499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r>
              <a:rPr lang="en-IN" dirty="0"/>
              <a:t>Code Structure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52B50C-A135-4EBC-AD27-F8EE4EC5B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077486"/>
            <a:ext cx="552266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Project.py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Entire application backend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 routes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evaluation logic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extraction utilities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MongoDB connections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templates embedded as strings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Modules inside file: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 module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Upload/Capture processing module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Gemini evaluation module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 &amp; history module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0329AD-B122-9C40-5CD1-F915F44F3496}"/>
              </a:ext>
            </a:extLst>
          </p:cNvPr>
          <p:cNvSpPr txBox="1"/>
          <p:nvPr/>
        </p:nvSpPr>
        <p:spPr>
          <a:xfrm>
            <a:off x="685800" y="45720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Database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E52E2-309F-405A-4D73-2F503C1C5E41}"/>
              </a:ext>
            </a:extLst>
          </p:cNvPr>
          <p:cNvSpPr txBox="1"/>
          <p:nvPr/>
        </p:nvSpPr>
        <p:spPr>
          <a:xfrm>
            <a:off x="457200" y="918865"/>
            <a:ext cx="73152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b="1" dirty="0"/>
              <a:t>Collections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users</a:t>
            </a:r>
            <a:endParaRPr lang="en-IN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username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 err="1"/>
              <a:t>password_hash</a:t>
            </a:r>
            <a:endParaRPr lang="en-IN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 err="1"/>
              <a:t>created_at</a:t>
            </a:r>
            <a:endParaRPr lang="en-IN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/>
              <a:t>evaluations</a:t>
            </a:r>
            <a:endParaRPr lang="en-IN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 err="1"/>
              <a:t>user_id</a:t>
            </a:r>
            <a:endParaRPr lang="en-IN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 err="1"/>
              <a:t>file_id</a:t>
            </a:r>
            <a:r>
              <a:rPr lang="en-IN" sz="2200" dirty="0"/>
              <a:t> (</a:t>
            </a:r>
            <a:r>
              <a:rPr lang="en-IN" sz="2200" dirty="0" err="1"/>
              <a:t>GridFS</a:t>
            </a:r>
            <a:r>
              <a:rPr lang="en-IN" sz="22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accuracy, readability, consistency scores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explanations + summary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/>
              <a:t>timestamps</a:t>
            </a:r>
          </a:p>
          <a:p>
            <a:pPr>
              <a:buNone/>
            </a:pPr>
            <a:r>
              <a:rPr lang="en-IN" sz="2200" b="1" dirty="0" err="1"/>
              <a:t>GridFS</a:t>
            </a:r>
            <a:endParaRPr lang="en-IN" sz="2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Stores raw uploaded PDFs, DOCX, TXT, and captured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Supports large files efficiently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8848F-1A89-C2FE-6F63-A91BCD144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256D6B-9607-770F-BB49-24DEFB80D8A9}"/>
              </a:ext>
            </a:extLst>
          </p:cNvPr>
          <p:cNvSpPr txBox="1"/>
          <p:nvPr/>
        </p:nvSpPr>
        <p:spPr>
          <a:xfrm>
            <a:off x="685800" y="45720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User Interface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528AC5-DB0B-0C1B-C3C9-FB00223F3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325940"/>
            <a:ext cx="664156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Clean, responsive dashboard layout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 upload section with supported formats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live camera for real-time page capture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Attractive result card with: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Explanations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History popup for previous evaluations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theme and color palette</a:t>
            </a:r>
          </a:p>
        </p:txBody>
      </p:sp>
    </p:spTree>
    <p:extLst>
      <p:ext uri="{BB962C8B-B14F-4D97-AF65-F5344CB8AC3E}">
        <p14:creationId xmlns:p14="http://schemas.microsoft.com/office/powerpoint/2010/main" val="469754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AA6FE-2905-B17C-D0BF-20431F314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23744E-B7C0-6736-DEF3-36C0CAD8EBA6}"/>
              </a:ext>
            </a:extLst>
          </p:cNvPr>
          <p:cNvSpPr txBox="1"/>
          <p:nvPr/>
        </p:nvSpPr>
        <p:spPr>
          <a:xfrm>
            <a:off x="685800" y="45720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 Results &amp; Performance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A6EFAA-B3F2-3B44-DA12-87D118B0E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28971"/>
            <a:ext cx="809869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processes different file formats and images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AI evaluation due to schema-optimized Gemini prompts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text extraction for PDF/DOCX/TXT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camera capture ensures flexibility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 &amp; retrieval from MongoDB is fast and reliable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History panel displays up to 50 past evaluations efficiently</a:t>
            </a:r>
          </a:p>
        </p:txBody>
      </p:sp>
    </p:spTree>
    <p:extLst>
      <p:ext uri="{BB962C8B-B14F-4D97-AF65-F5344CB8AC3E}">
        <p14:creationId xmlns:p14="http://schemas.microsoft.com/office/powerpoint/2010/main" val="1780852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A5DA6-0A8A-E620-A8DD-7575740B9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559C6C-A0D7-60F9-429F-D203563C7D2E}"/>
              </a:ext>
            </a:extLst>
          </p:cNvPr>
          <p:cNvSpPr txBox="1"/>
          <p:nvPr/>
        </p:nvSpPr>
        <p:spPr>
          <a:xfrm>
            <a:off x="685800" y="45720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05A670-0444-D379-407F-10F63B10F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447800"/>
            <a:ext cx="982993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provides a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quick, AI-driven assessment of textbook quality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educators, reviewers, and academic institutions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Integrates multiple technologies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a smooth user experience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Flexible input options (file + camera) improve usability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and can be extended with: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Subject-specific evaluations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Multi-reviewer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dashboard and reporting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Serves as a strong foundation for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AI-assisted academic quality analysis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604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217" rIns="0" bIns="0" rtlCol="0">
            <a:spAutoFit/>
          </a:bodyPr>
          <a:lstStyle/>
          <a:p>
            <a:pPr marL="163195">
              <a:lnSpc>
                <a:spcPct val="100000"/>
              </a:lnSpc>
              <a:spcBef>
                <a:spcPts val="110"/>
              </a:spcBef>
            </a:pPr>
            <a:r>
              <a:rPr dirty="0"/>
              <a:t>Github</a:t>
            </a:r>
            <a:r>
              <a:rPr spc="-70" dirty="0"/>
              <a:t> </a:t>
            </a:r>
            <a:r>
              <a:rPr spc="-20" dirty="0"/>
              <a:t>Link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02440" y="1066800"/>
            <a:ext cx="8298180" cy="2256387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Github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link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provided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should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have public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access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permission.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943735"/>
                </a:solidFill>
                <a:latin typeface="Cambria"/>
                <a:cs typeface="Cambria"/>
              </a:rPr>
              <a:t>Github</a:t>
            </a:r>
            <a:r>
              <a:rPr sz="2400" b="1" spc="-75" dirty="0">
                <a:solidFill>
                  <a:srgbClr val="943735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943735"/>
                </a:solidFill>
                <a:latin typeface="Cambria"/>
                <a:cs typeface="Cambria"/>
              </a:rPr>
              <a:t>Link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z="24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https://github.com/SThousif/Application-for-Assessment-of-Quality-of-Textbook-Reference-Books-E-Books-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References</a:t>
            </a:r>
            <a:r>
              <a:rPr spc="-55" dirty="0"/>
              <a:t> </a:t>
            </a:r>
            <a:r>
              <a:rPr dirty="0"/>
              <a:t>(IEEE</a:t>
            </a:r>
            <a:r>
              <a:rPr spc="-85" dirty="0"/>
              <a:t> </a:t>
            </a:r>
            <a:r>
              <a:rPr dirty="0"/>
              <a:t>Paper</a:t>
            </a:r>
            <a:r>
              <a:rPr spc="-80" dirty="0"/>
              <a:t> </a:t>
            </a:r>
            <a:r>
              <a:rPr spc="-10" dirty="0"/>
              <a:t>format)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52400" y="1128217"/>
            <a:ext cx="11734800" cy="468974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[1] </a:t>
            </a:r>
            <a:r>
              <a:rPr lang="en-US" sz="1700" i="1" dirty="0">
                <a:latin typeface="Cambria" panose="02040503050406030204" pitchFamily="18" charset="0"/>
                <a:ea typeface="Cambria" panose="02040503050406030204" pitchFamily="18" charset="0"/>
              </a:rPr>
              <a:t>Application for Assessment of Quality of Textbook/Reference Book/E-Books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International Journal of Engineering Innovations and Management Strategies, published circa early 2025 (about six months ago) 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IJEIMS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[2] Q. Zhou, “Evaluating book impacts via integrating multi-source reviews,” </a:t>
            </a:r>
            <a:r>
              <a:rPr lang="en-US" sz="1700" i="1" dirty="0" err="1">
                <a:latin typeface="Cambria" panose="02040503050406030204" pitchFamily="18" charset="0"/>
                <a:ea typeface="Cambria" panose="02040503050406030204" pitchFamily="18" charset="0"/>
              </a:rPr>
              <a:t>Scientometrics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vol. 129, 2024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[3] R. K. Singh and A. Sharma, "Design and development of web-based evaluation system for academic resources," </a:t>
            </a:r>
            <a:r>
              <a:rPr lang="en-IN" sz="17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Computer Applications</a:t>
            </a: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, vol. 183, no. 8, pp. 25–30, June 2021.</a:t>
            </a:r>
          </a:p>
          <a:p>
            <a:pPr marL="76200" indent="0">
              <a:buNone/>
            </a:pPr>
            <a:endParaRPr lang="en-IN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[4] S. R. K. Somasekhar, P. V. Kumar, and R. J. Reddy, "Automated assessment of educational content using multi-criteria analysis," in </a:t>
            </a:r>
            <a:r>
              <a:rPr lang="en-IN" sz="1700" i="1" dirty="0">
                <a:latin typeface="Cambria" panose="02040503050406030204" pitchFamily="18" charset="0"/>
                <a:ea typeface="Cambria" panose="02040503050406030204" pitchFamily="18" charset="0"/>
              </a:rPr>
              <a:t>Proc. IEEE International Conf. on Technology for Education (T4E)</a:t>
            </a: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, Mumbai, India, 2020, pp. 215–220.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[5] M. A. Al-Emran, "Towards an intelligent framework for textbook evaluation in higher education," </a:t>
            </a:r>
            <a:r>
              <a:rPr lang="en-IN" sz="1700" i="1" dirty="0">
                <a:latin typeface="Cambria" panose="02040503050406030204" pitchFamily="18" charset="0"/>
                <a:ea typeface="Cambria" panose="02040503050406030204" pitchFamily="18" charset="0"/>
              </a:rPr>
              <a:t>Education and Information Technologies</a:t>
            </a: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, vol. 24, no. 2, pp. 1453–1468, Mar. 2019.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[6] N. G. T. Izquierdo, L. A. G. Villalobos, and J. D. M. Ramírez, "A framework for the evaluation of e-learning materials," in </a:t>
            </a:r>
            <a:r>
              <a:rPr lang="en-IN" sz="1700" i="1" dirty="0">
                <a:latin typeface="Cambria" panose="02040503050406030204" pitchFamily="18" charset="0"/>
                <a:ea typeface="Cambria" panose="02040503050406030204" pitchFamily="18" charset="0"/>
              </a:rPr>
              <a:t>Proc. IEEE Global Engineering Education Conf. (EDUCON)</a:t>
            </a: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, Abu Dhabi, UAE, 2016, pp. 1129–1134.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[7] T. M. Connolly and E. A. Stansfield, "Evaluating the quality of learning resources: A web-based approach," in </a:t>
            </a:r>
            <a:r>
              <a:rPr lang="en-IN" sz="1700" i="1" dirty="0">
                <a:latin typeface="Cambria" panose="02040503050406030204" pitchFamily="18" charset="0"/>
                <a:ea typeface="Cambria" panose="02040503050406030204" pitchFamily="18" charset="0"/>
              </a:rPr>
              <a:t>Proc. IEEE International Conf. on Advanced Learning Technologies (ICALT)</a:t>
            </a: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, Athens, Greece, 2014, pp. 37–41.</a:t>
            </a:r>
          </a:p>
          <a:p>
            <a:br>
              <a:rPr lang="en-IN" sz="1400" dirty="0"/>
            </a:br>
            <a:endParaRPr sz="1400" spc="-1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796" y="1440180"/>
            <a:ext cx="3895344" cy="39364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</TotalTime>
  <Words>1024</Words>
  <Application>Microsoft Office PowerPoint</Application>
  <PresentationFormat>Widescreen</PresentationFormat>
  <Paragraphs>150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MT</vt:lpstr>
      <vt:lpstr>Arial Unicode MS</vt:lpstr>
      <vt:lpstr>Cambria</vt:lpstr>
      <vt:lpstr>Verdana</vt:lpstr>
      <vt:lpstr>Wingdings</vt:lpstr>
      <vt:lpstr>Office Theme</vt:lpstr>
      <vt:lpstr>CSE7101- Capstone Project Review-4</vt:lpstr>
      <vt:lpstr>Concentrate On These  </vt:lpstr>
      <vt:lpstr>Content</vt:lpstr>
      <vt:lpstr>Objectives</vt:lpstr>
      <vt:lpstr>Technology Stack</vt:lpstr>
      <vt:lpstr>System Architecture</vt:lpstr>
      <vt:lpstr>Key Features</vt:lpstr>
      <vt:lpstr>Code Structure</vt:lpstr>
      <vt:lpstr>PowerPoint Presentation</vt:lpstr>
      <vt:lpstr>PowerPoint Presentation</vt:lpstr>
      <vt:lpstr>PowerPoint Presentation</vt:lpstr>
      <vt:lpstr>PowerPoint Presentation</vt:lpstr>
      <vt:lpstr>Github Link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Syed Thousif</dc:creator>
  <cp:lastModifiedBy>Syed Thousif</cp:lastModifiedBy>
  <cp:revision>16</cp:revision>
  <dcterms:created xsi:type="dcterms:W3CDTF">2025-09-23T06:48:19Z</dcterms:created>
  <dcterms:modified xsi:type="dcterms:W3CDTF">2025-11-30T12:19:32Z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2025-09-23T00:00:00Z</vt:filetime>
  </property>
  <property fmtid="{D5CDD505-2E9C-101B-9397-08002B2CF9AE}" pid="5" name="Producer">
    <vt:lpwstr>www.ilovepdf.com</vt:lpwstr>
  </property>
</Properties>
</file>